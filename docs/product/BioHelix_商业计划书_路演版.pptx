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Rounded Rectangle 1"/>
          <p:cNvSpPr/>
          <p:nvPr/>
        </p:nvSpPr>
        <p:spPr>
          <a:xfrm>
            <a:off x="731520" y="1005840"/>
            <a:ext cx="10728655" cy="4846320"/>
          </a:xfrm>
          <a:prstGeom prst="roundRect">
            <a:avLst/>
          </a:prstGeom>
          <a:solidFill>
            <a:srgbClr val="101A32"/>
          </a:solidFill>
          <a:ln w="12700">
            <a:solidFill>
              <a:srgbClr val="2337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0" y="1463040"/>
            <a:ext cx="4389120" cy="411480"/>
          </a:xfrm>
          <a:prstGeom prst="roundRect">
            <a:avLst/>
          </a:prstGeom>
          <a:solidFill>
            <a:srgbClr val="143228"/>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34D399"/>
                </a:solidFill>
              </a:defRPr>
            </a:pPr>
            <a:r>
              <a:t>生命科技与算力基座专项 · 支持私有部署与开放算力</a:t>
            </a:r>
          </a:p>
        </p:txBody>
      </p:sp>
      <p:sp>
        <p:nvSpPr>
          <p:cNvPr id="4" name="TextBox 3"/>
          <p:cNvSpPr txBox="1"/>
          <p:nvPr/>
        </p:nvSpPr>
        <p:spPr>
          <a:xfrm>
            <a:off x="1280160" y="2103120"/>
            <a:ext cx="9601200" cy="2103120"/>
          </a:xfrm>
          <a:prstGeom prst="rect">
            <a:avLst/>
          </a:prstGeom>
          <a:noFill/>
        </p:spPr>
        <p:txBody>
          <a:bodyPr wrap="square">
            <a:spAutoFit/>
          </a:bodyPr>
          <a:lstStyle/>
          <a:p>
            <a:pPr>
              <a:defRPr sz="3400" b="1">
                <a:solidFill>
                  <a:srgbClr val="F8FAFC"/>
                </a:solidFill>
              </a:defRPr>
            </a:pPr>
            <a:r>
              <a:t>BioHelix 移动端生命科学 AI 执行工作台</a:t>
            </a:r>
          </a:p>
          <a:p>
            <a:pPr>
              <a:spcBef>
                <a:spcPts val="1200"/>
              </a:spcBef>
              <a:defRPr sz="1700">
                <a:solidFill>
                  <a:srgbClr val="38BDF8"/>
                </a:solidFill>
              </a:defRPr>
            </a:pPr>
            <a:r>
              <a:t>端-边-超协同的开放智能中枢 —— 从微观实验解析到宏观算力支撑</a:t>
            </a:r>
          </a:p>
          <a:p>
            <a:pPr>
              <a:spcBef>
                <a:spcPts val="1400"/>
              </a:spcBef>
              <a:defRPr sz="1300">
                <a:solidFill>
                  <a:srgbClr val="94A3B8"/>
                </a:solidFill>
              </a:defRPr>
            </a:pPr>
            <a:r>
              <a:t>开放兼容：私有化大模型 / 商业模型服务 / 区域超算中心（示范对接长江3D科算中心）</a:t>
            </a:r>
          </a:p>
        </p:txBody>
      </p:sp>
      <p:sp>
        <p:nvSpPr>
          <p:cNvPr id="5" name="TextBox 4"/>
          <p:cNvSpPr txBox="1"/>
          <p:nvPr/>
        </p:nvSpPr>
        <p:spPr>
          <a:xfrm>
            <a:off x="1280160" y="4846320"/>
            <a:ext cx="9601200" cy="548640"/>
          </a:xfrm>
          <a:prstGeom prst="rect">
            <a:avLst/>
          </a:prstGeom>
          <a:noFill/>
        </p:spPr>
        <p:txBody>
          <a:bodyPr wrap="none">
            <a:spAutoFit/>
          </a:bodyPr>
          <a:lstStyle/>
          <a:p>
            <a:pPr>
              <a:defRPr sz="1200">
                <a:solidFill>
                  <a:srgbClr val="CBD5E1"/>
                </a:solidFill>
              </a:defRPr>
            </a:pPr>
            <a:r>
              <a:t>申报项目：BioHelix 混合算力工作台   |   团队：BioHelix 团队   |   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EXECUTIVE SUMMARY</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项目概述：打造生物医药与生命科技的移动算力新基建</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2 / 11</a:t>
            </a:r>
          </a:p>
        </p:txBody>
      </p:sp>
      <p:sp>
        <p:nvSpPr>
          <p:cNvPr id="5" name="Rounded Rectangle 4"/>
          <p:cNvSpPr/>
          <p:nvPr/>
        </p:nvSpPr>
        <p:spPr>
          <a:xfrm>
            <a:off x="731520" y="1508760"/>
            <a:ext cx="10728655" cy="210312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01168"/>
          <a:lstStyle/>
          <a:p>
            <a:pPr algn="ctr">
              <a:defRPr sz="1250" b="1">
                <a:solidFill>
                  <a:srgbClr val="FBBF24"/>
                </a:solidFill>
              </a:defRPr>
            </a:pPr>
            <a:r>
              <a:t>【项目核心概述 · 280字业内标准表达】</a:t>
            </a:r>
          </a:p>
          <a:p>
            <a:pPr>
              <a:spcBef>
                <a:spcPts val="600"/>
              </a:spcBef>
              <a:defRPr sz="1150">
                <a:solidFill>
                  <a:srgbClr val="CBD5E1"/>
                </a:solidFill>
              </a:defRPr>
            </a:pPr>
            <a:r>
              <a:t>BioHelix 是一款面向生命科技与生物医药的端-超协同开放式 AI 执行工作台。针对实验台、洁净室及野外采样等现场“无电脑可用、涉密数据难出网、离线计算受限”的痛点，BioHelix 依托 Android 本机多执行域沙箱（QuickJS 与 PRoot Linux 容器），在移动端实现分子数据（PDB/FASTA/SDF）就地清洗、微量生信计算与实验流程自动化。</a:t>
            </a:r>
            <a:br/>
            <a:br/>
            <a:r>
              <a:t>平台采用开放多算力架构，既可离线闭环运行，亦支持按需调度私有部署大模型/私有超算、主流商业模型及区域算力中心（如长江3D科学计算中心），实现从端侧微观数据处理到高通量仿真推演的无缝闭环。产品赋能创新药物研发、中药野外勘测与合成生物中试车间巡检，打造生命科学计算基础设施的掌上新质生产力底座。</a:t>
            </a:r>
          </a:p>
        </p:txBody>
      </p:sp>
      <p:sp>
        <p:nvSpPr>
          <p:cNvPr id="6" name="Rounded Rectangle 5"/>
          <p:cNvSpPr/>
          <p:nvPr/>
        </p:nvSpPr>
        <p:spPr>
          <a:xfrm>
            <a:off x="731520" y="3840480"/>
            <a:ext cx="3429000" cy="2194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500" b="1">
                <a:solidFill>
                  <a:srgbClr val="34D399"/>
                </a:solidFill>
              </a:defRPr>
            </a:pPr>
            <a:r>
              <a:t>微观端侧：现场闭环</a:t>
            </a:r>
          </a:p>
          <a:p>
            <a:pPr>
              <a:spcBef>
                <a:spcPts val="1000"/>
              </a:spcBef>
              <a:defRPr sz="1150">
                <a:solidFill>
                  <a:srgbClr val="CBD5E1"/>
                </a:solidFill>
              </a:defRPr>
            </a:pPr>
            <a:r>
              <a:t>洁净室/野外采样现场免电脑，手机端沙箱就地完成分子结构清洗、序列质控与轻量生信计算</a:t>
            </a:r>
          </a:p>
        </p:txBody>
      </p:sp>
      <p:sp>
        <p:nvSpPr>
          <p:cNvPr id="7" name="Rounded Rectangle 6"/>
          <p:cNvSpPr/>
          <p:nvPr/>
        </p:nvSpPr>
        <p:spPr>
          <a:xfrm>
            <a:off x="4379976" y="3840480"/>
            <a:ext cx="3429000" cy="2194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500" b="1">
                <a:solidFill>
                  <a:srgbClr val="38BDF8"/>
                </a:solidFill>
              </a:defRPr>
            </a:pPr>
            <a:r>
              <a:t>宏观算力：开放协同</a:t>
            </a:r>
          </a:p>
          <a:p>
            <a:pPr>
              <a:spcBef>
                <a:spcPts val="1000"/>
              </a:spcBef>
              <a:defRPr sz="1150">
                <a:solidFill>
                  <a:srgbClr val="CBD5E1"/>
                </a:solidFill>
              </a:defRPr>
            </a:pPr>
            <a:r>
              <a:t>支持私有化大模型集群、商业前沿 API 与公共超算中心按需调度，打破算力孤岛</a:t>
            </a:r>
          </a:p>
        </p:txBody>
      </p:sp>
      <p:sp>
        <p:nvSpPr>
          <p:cNvPr id="8" name="Rounded Rectangle 7"/>
          <p:cNvSpPr/>
          <p:nvPr/>
        </p:nvSpPr>
        <p:spPr>
          <a:xfrm>
            <a:off x="8028432" y="3840480"/>
            <a:ext cx="3429000" cy="2194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500" b="1">
                <a:solidFill>
                  <a:srgbClr val="FBBF24"/>
                </a:solidFill>
              </a:defRPr>
            </a:pPr>
            <a:r>
              <a:t>产业落地：车间赋能</a:t>
            </a:r>
          </a:p>
          <a:p>
            <a:pPr>
              <a:spcBef>
                <a:spcPts val="1000"/>
              </a:spcBef>
              <a:defRPr sz="1150">
                <a:solidFill>
                  <a:srgbClr val="CBD5E1"/>
                </a:solidFill>
              </a:defRPr>
            </a:pPr>
            <a:r>
              <a:t>深度服务合成生物中试发酵现场与创新药物筛选，助力工艺调控与产业化转化</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MARKET PROBLEM</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行业痛点：生物医药研发“重计算在后台，真实验在现场”的断层</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3 / 11</a:t>
            </a:r>
          </a:p>
        </p:txBody>
      </p:sp>
      <p:sp>
        <p:nvSpPr>
          <p:cNvPr id="5" name="Rounded Rectangle 4"/>
          <p:cNvSpPr/>
          <p:nvPr/>
        </p:nvSpPr>
        <p:spPr>
          <a:xfrm>
            <a:off x="731520" y="1508760"/>
            <a:ext cx="3429000" cy="3291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100" b="1">
                <a:solidFill>
                  <a:srgbClr val="FBBF24"/>
                </a:solidFill>
              </a:defRPr>
            </a:pPr>
            <a:r>
              <a:t>场景断层</a:t>
            </a:r>
          </a:p>
          <a:p>
            <a:pPr>
              <a:spcBef>
                <a:spcPts val="800"/>
              </a:spcBef>
              <a:defRPr sz="1500" b="1">
                <a:solidFill>
                  <a:srgbClr val="F8FAFC"/>
                </a:solidFill>
              </a:defRPr>
            </a:pPr>
            <a:r>
              <a:t>痛点一：实验现场缺乏计算工具</a:t>
            </a:r>
          </a:p>
          <a:p>
            <a:pPr>
              <a:spcBef>
                <a:spcPts val="1200"/>
              </a:spcBef>
              <a:defRPr sz="1200">
                <a:solidFill>
                  <a:srgbClr val="CBD5E1"/>
                </a:solidFill>
              </a:defRPr>
            </a:pPr>
            <a:r>
              <a:t>P2/P3 洁净室、生物反应器车间、野外采样区严禁或无法携带笨重电脑，科研人员在实验台前无法即时处理数据与调用计算。</a:t>
            </a:r>
          </a:p>
        </p:txBody>
      </p:sp>
      <p:sp>
        <p:nvSpPr>
          <p:cNvPr id="6" name="Rounded Rectangle 5"/>
          <p:cNvSpPr/>
          <p:nvPr/>
        </p:nvSpPr>
        <p:spPr>
          <a:xfrm>
            <a:off x="4379976" y="1508760"/>
            <a:ext cx="3429000" cy="3291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100" b="1">
                <a:solidFill>
                  <a:srgbClr val="FBBF24"/>
                </a:solidFill>
              </a:defRPr>
            </a:pPr>
            <a:r>
              <a:t>调度断层</a:t>
            </a:r>
          </a:p>
          <a:p>
            <a:pPr>
              <a:spcBef>
                <a:spcPts val="800"/>
              </a:spcBef>
              <a:defRPr sz="1500" b="1">
                <a:solidFill>
                  <a:srgbClr val="F8FAFC"/>
                </a:solidFill>
              </a:defRPr>
            </a:pPr>
            <a:r>
              <a:t>痛点二：异构算力孤岛与交互滞后</a:t>
            </a:r>
          </a:p>
          <a:p>
            <a:pPr>
              <a:spcBef>
                <a:spcPts val="1200"/>
              </a:spcBef>
              <a:defRPr sz="1200">
                <a:solidFill>
                  <a:srgbClr val="CBD5E1"/>
                </a:solidFill>
              </a:defRPr>
            </a:pPr>
            <a:r>
              <a:t>私有集群、商业大模型与超算中心彼此割裂。科研人员离开工位即失联，排队状态难掌握，缺乏随时可用的统一调度入口。</a:t>
            </a:r>
          </a:p>
        </p:txBody>
      </p:sp>
      <p:sp>
        <p:nvSpPr>
          <p:cNvPr id="7" name="Rounded Rectangle 6"/>
          <p:cNvSpPr/>
          <p:nvPr/>
        </p:nvSpPr>
        <p:spPr>
          <a:xfrm>
            <a:off x="8028432" y="1508760"/>
            <a:ext cx="3429000" cy="3291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100" b="1">
                <a:solidFill>
                  <a:srgbClr val="FBBF24"/>
                </a:solidFill>
              </a:defRPr>
            </a:pPr>
            <a:r>
              <a:t>安全断层</a:t>
            </a:r>
          </a:p>
          <a:p>
            <a:pPr>
              <a:spcBef>
                <a:spcPts val="800"/>
              </a:spcBef>
              <a:defRPr sz="1500" b="1">
                <a:solidFill>
                  <a:srgbClr val="F8FAFC"/>
                </a:solidFill>
              </a:defRPr>
            </a:pPr>
            <a:r>
              <a:t>痛点三：涉密数据与弱网外业困境</a:t>
            </a:r>
          </a:p>
          <a:p>
            <a:pPr>
              <a:spcBef>
                <a:spcPts val="1200"/>
              </a:spcBef>
              <a:defRPr sz="1200">
                <a:solidFill>
                  <a:srgbClr val="CBD5E1"/>
                </a:solidFill>
              </a:defRPr>
            </a:pPr>
            <a:r>
              <a:t>先导化合物与基因序列高度敏感，机构禁止未经脱敏上传公共云；野外中药勘探弱网环境下，纯云端依赖系统彻底瘫痪。</a:t>
            </a:r>
          </a:p>
        </p:txBody>
      </p:sp>
      <p:sp>
        <p:nvSpPr>
          <p:cNvPr id="8" name="Rounded Rectangle 7"/>
          <p:cNvSpPr/>
          <p:nvPr/>
        </p:nvSpPr>
        <p:spPr>
          <a:xfrm>
            <a:off x="731520" y="4983480"/>
            <a:ext cx="10728655" cy="1051560"/>
          </a:xfrm>
          <a:prstGeom prst="roundRect">
            <a:avLst/>
          </a:prstGeom>
          <a:solidFill>
            <a:srgbClr val="142832"/>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sz="1350" b="1">
                <a:solidFill>
                  <a:srgbClr val="34D399"/>
                </a:solidFill>
              </a:defRPr>
            </a:pPr>
            <a:r>
              <a:t>破局解法：BioHelix 契合大赛赛道（三）—— 打造端-边-超协同的生命科学计算基础设施</a:t>
            </a:r>
          </a:p>
          <a:p>
            <a:pPr>
              <a:spcBef>
                <a:spcPts val="400"/>
              </a:spcBef>
              <a:defRPr sz="1150">
                <a:solidFill>
                  <a:srgbClr val="CBD5E1"/>
                </a:solidFill>
              </a:defRPr>
            </a:pPr>
            <a:r>
              <a:t>打通从“移动端微观实验数据清洗”到“宏观异构算力仿真”的最后一公里，将超级算力直达实验第一线！</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SOLUTION</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产品方案：BioHelix —— 面向生命科学的开放式移动 AI 工作台</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4 / 11</a:t>
            </a:r>
          </a:p>
        </p:txBody>
      </p:sp>
      <p:sp>
        <p:nvSpPr>
          <p:cNvPr id="5" name="Rounded Rectangle 4"/>
          <p:cNvSpPr/>
          <p:nvPr/>
        </p:nvSpPr>
        <p:spPr>
          <a:xfrm>
            <a:off x="731520" y="1508760"/>
            <a:ext cx="5257800" cy="20574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600" b="1">
                <a:solidFill>
                  <a:srgbClr val="34D399"/>
                </a:solidFill>
              </a:defRPr>
            </a:pPr>
            <a:r>
              <a:t>01 移动端微观数据本地闭环</a:t>
            </a:r>
          </a:p>
          <a:p>
            <a:pPr>
              <a:spcBef>
                <a:spcPts val="1000"/>
              </a:spcBef>
              <a:defRPr sz="1200">
                <a:solidFill>
                  <a:srgbClr val="CBD5E1"/>
                </a:solidFill>
              </a:defRPr>
            </a:pPr>
            <a:r>
              <a:t>支持 SAF 授权与本地存储，内置 Biopython/RDKit，可在手机端就地解析 PDB、FASTA、SDF 格式，完成分子特征提取与实验记录原子化归档。</a:t>
            </a:r>
          </a:p>
        </p:txBody>
      </p:sp>
      <p:sp>
        <p:nvSpPr>
          <p:cNvPr id="6" name="Rounded Rectangle 5"/>
          <p:cNvSpPr/>
          <p:nvPr/>
        </p:nvSpPr>
        <p:spPr>
          <a:xfrm>
            <a:off x="6172200" y="1508760"/>
            <a:ext cx="5257800" cy="20574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600" b="1">
                <a:solidFill>
                  <a:srgbClr val="34D399"/>
                </a:solidFill>
              </a:defRPr>
            </a:pPr>
            <a:r>
              <a:t>02 开放式混合算力调度中枢</a:t>
            </a:r>
          </a:p>
          <a:p>
            <a:pPr>
              <a:spcBef>
                <a:spcPts val="1000"/>
              </a:spcBef>
              <a:defRPr sz="1200">
                <a:solidFill>
                  <a:srgbClr val="CBD5E1"/>
                </a:solidFill>
              </a:defRPr>
            </a:pPr>
            <a:r>
              <a:t>自研 Tool Dispatcher 内置开放适配器：既可连接机构私有部署大模型（Ollama/vLLM），亦可调用商业 API，并支持调度长江3D科算中心等高性能集群。</a:t>
            </a:r>
          </a:p>
        </p:txBody>
      </p:sp>
      <p:sp>
        <p:nvSpPr>
          <p:cNvPr id="7" name="Rounded Rectangle 6"/>
          <p:cNvSpPr/>
          <p:nvPr/>
        </p:nvSpPr>
        <p:spPr>
          <a:xfrm>
            <a:off x="731520" y="3749040"/>
            <a:ext cx="5257800" cy="20574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600" b="1">
                <a:solidFill>
                  <a:srgbClr val="34D399"/>
                </a:solidFill>
              </a:defRPr>
            </a:pPr>
            <a:r>
              <a:t>03 实时流式终端与长任务对账</a:t>
            </a:r>
          </a:p>
          <a:p>
            <a:pPr>
              <a:spcBef>
                <a:spcPts val="1000"/>
              </a:spcBef>
              <a:defRPr sz="1200">
                <a:solidFill>
                  <a:srgbClr val="CBD5E1"/>
                </a:solidFill>
              </a:defRPr>
            </a:pPr>
            <a:r>
              <a:t>高通量模拟过程通过 PTY 终端流式回传手机，实时掌握能量收敛与结合能曲线；断网或切后台后支持 Room 状态机自动对账，杜绝未知副作用重放。</a:t>
            </a:r>
          </a:p>
        </p:txBody>
      </p:sp>
      <p:sp>
        <p:nvSpPr>
          <p:cNvPr id="8" name="Rounded Rectangle 7"/>
          <p:cNvSpPr/>
          <p:nvPr/>
        </p:nvSpPr>
        <p:spPr>
          <a:xfrm>
            <a:off x="6172200" y="3749040"/>
            <a:ext cx="5257800" cy="20574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600" b="1">
                <a:solidFill>
                  <a:srgbClr val="34D399"/>
                </a:solidFill>
              </a:defRPr>
            </a:pPr>
            <a:r>
              <a:t>04 涉密新药数据物理分级隔离</a:t>
            </a:r>
          </a:p>
          <a:p>
            <a:pPr>
              <a:spcBef>
                <a:spcPts val="1000"/>
              </a:spcBef>
              <a:defRPr sz="1200">
                <a:solidFill>
                  <a:srgbClr val="CBD5E1"/>
                </a:solidFill>
              </a:defRPr>
            </a:pPr>
            <a:r>
              <a:t>实验规则进 QuickJS isolated 沙箱，重度编译进 PRoot 容器，核心实验资产不出端；支持全离线模式与企业私有局域网直连，保障知识产权安全。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TECHNOLOGY ARCHITECTURE</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技术架构：端-超协同、物理隔离沙箱与开放算力抽象</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5 / 11</a:t>
            </a:r>
          </a:p>
        </p:txBody>
      </p:sp>
      <p:sp>
        <p:nvSpPr>
          <p:cNvPr id="5" name="Rounded Rectangle 4"/>
          <p:cNvSpPr/>
          <p:nvPr/>
        </p:nvSpPr>
        <p:spPr>
          <a:xfrm>
            <a:off x="731520" y="1508760"/>
            <a:ext cx="5257800"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600" b="1">
                <a:solidFill>
                  <a:srgbClr val="34D399"/>
                </a:solidFill>
              </a:defRPr>
            </a:pPr>
            <a:r>
              <a:t>端-超协同系统架构分层</a:t>
            </a:r>
          </a:p>
          <a:p>
            <a:pPr>
              <a:spcBef>
                <a:spcPts val="800"/>
              </a:spcBef>
              <a:defRPr sz="1200" b="1">
                <a:solidFill>
                  <a:srgbClr val="F8FAFC"/>
                </a:solidFill>
              </a:defRPr>
            </a:pPr>
            <a:r>
              <a:t>●  移动交互层 (Touch UI)</a:t>
            </a:r>
          </a:p>
          <a:p>
            <a:pPr>
              <a:defRPr sz="1050">
                <a:solidFill>
                  <a:srgbClr val="94A3B8"/>
                </a:solidFill>
              </a:defRPr>
            </a:pPr>
            <a:r>
              <a:t>    触控优化界面，支持分子结构轻量预览、Diff 比对与实时 Pty 输出</a:t>
            </a:r>
          </a:p>
          <a:p>
            <a:pPr>
              <a:spcBef>
                <a:spcPts val="800"/>
              </a:spcBef>
              <a:defRPr sz="1200" b="1">
                <a:solidFill>
                  <a:srgbClr val="F8FAFC"/>
                </a:solidFill>
              </a:defRPr>
            </a:pPr>
            <a:r>
              <a:t>●  协同中枢 (Coordinator)</a:t>
            </a:r>
          </a:p>
          <a:p>
            <a:pPr>
              <a:defRPr sz="1050">
                <a:solidFill>
                  <a:srgbClr val="94A3B8"/>
                </a:solidFill>
              </a:defRPr>
            </a:pPr>
            <a:r>
              <a:t>    统一 Agent 循环，多模态数据输入，生信上下文组装与作业状态追踪</a:t>
            </a:r>
          </a:p>
          <a:p>
            <a:pPr>
              <a:spcBef>
                <a:spcPts val="800"/>
              </a:spcBef>
              <a:defRPr sz="1200" b="1">
                <a:solidFill>
                  <a:srgbClr val="F8FAFC"/>
                </a:solidFill>
              </a:defRPr>
            </a:pPr>
            <a:r>
              <a:t>●  调度管线 (Dispatcher)</a:t>
            </a:r>
          </a:p>
          <a:p>
            <a:pPr>
              <a:defRPr sz="1050">
                <a:solidFill>
                  <a:srgbClr val="94A3B8"/>
                </a:solidFill>
              </a:defRPr>
            </a:pPr>
            <a:r>
              <a:t>    Schema 校验 -&gt; 权限门禁 -&gt; 策略评估 -&gt; 开放算力 HPC / API 适配</a:t>
            </a:r>
          </a:p>
          <a:p>
            <a:pPr>
              <a:spcBef>
                <a:spcPts val="800"/>
              </a:spcBef>
              <a:defRPr sz="1200" b="1">
                <a:solidFill>
                  <a:srgbClr val="F8FAFC"/>
                </a:solidFill>
              </a:defRPr>
            </a:pPr>
            <a:r>
              <a:t>●  端侧隔离域 (Edge Runtimes)</a:t>
            </a:r>
          </a:p>
          <a:p>
            <a:pPr>
              <a:defRPr sz="1050">
                <a:solidFill>
                  <a:srgbClr val="94A3B8"/>
                </a:solidFill>
              </a:defRPr>
            </a:pPr>
            <a:r>
              <a:t>    QuickJS 独立 UID 沙箱 (微规则) + PRoot 容器化 Linux (Biopython/RDKit)</a:t>
            </a:r>
          </a:p>
          <a:p>
            <a:pPr>
              <a:spcBef>
                <a:spcPts val="800"/>
              </a:spcBef>
              <a:defRPr sz="1200" b="1">
                <a:solidFill>
                  <a:srgbClr val="F8FAFC"/>
                </a:solidFill>
              </a:defRPr>
            </a:pPr>
            <a:r>
              <a:t>●  异构算力池 (Hybrid Compute)</a:t>
            </a:r>
          </a:p>
          <a:p>
            <a:pPr>
              <a:defRPr sz="1050">
                <a:solidFill>
                  <a:srgbClr val="94A3B8"/>
                </a:solidFill>
              </a:defRPr>
            </a:pPr>
            <a:r>
              <a:t>    私有化集群 (vLLM/Slurm) + 商业模型服务 + 公共超算 (如长江3D科算中心)</a:t>
            </a:r>
          </a:p>
        </p:txBody>
      </p:sp>
      <p:sp>
        <p:nvSpPr>
          <p:cNvPr id="6" name="Rounded Rectangle 5"/>
          <p:cNvSpPr/>
          <p:nvPr/>
        </p:nvSpPr>
        <p:spPr>
          <a:xfrm>
            <a:off x="6217920" y="1508760"/>
            <a:ext cx="5242255"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600" b="1">
                <a:solidFill>
                  <a:srgbClr val="38BDF8"/>
                </a:solidFill>
              </a:defRPr>
            </a:pPr>
            <a:r>
              <a:t>核心技术壁垒与架构创新</a:t>
            </a:r>
          </a:p>
          <a:p>
            <a:pPr>
              <a:spcBef>
                <a:spcPts val="1400"/>
              </a:spcBef>
              <a:defRPr sz="1300" b="1">
                <a:solidFill>
                  <a:srgbClr val="38BDF8"/>
                </a:solidFill>
              </a:defRPr>
            </a:pPr>
            <a:r>
              <a:t>★  免 Root 容器化生信环境移植</a:t>
            </a:r>
          </a:p>
          <a:p>
            <a:pPr>
              <a:spcBef>
                <a:spcPts val="400"/>
              </a:spcBef>
              <a:defRPr sz="1100">
                <a:solidFill>
                  <a:srgbClr val="CBD5E1"/>
                </a:solidFill>
              </a:defRPr>
            </a:pPr>
            <a:r>
              <a:t>在商用 Android 手机上免 Root 稳定运行 Linux 生信工具链与 C++ 扩展，兼顾移动安全性与专业计算能力。</a:t>
            </a:r>
          </a:p>
          <a:p>
            <a:pPr>
              <a:spcBef>
                <a:spcPts val="1400"/>
              </a:spcBef>
              <a:defRPr sz="1300" b="1">
                <a:solidFill>
                  <a:srgbClr val="38BDF8"/>
                </a:solidFill>
              </a:defRPr>
            </a:pPr>
            <a:r>
              <a:t>★  异构算力统一抽象与流式调度</a:t>
            </a:r>
          </a:p>
          <a:p>
            <a:pPr>
              <a:spcBef>
                <a:spcPts val="400"/>
              </a:spcBef>
              <a:defRPr sz="1100">
                <a:solidFill>
                  <a:srgbClr val="CBD5E1"/>
                </a:solidFill>
              </a:defRPr>
            </a:pPr>
            <a:r>
              <a:t>设计通用 HPC/API 调度协议，适配 Slurm 作业、局域网私有模型与商业大模型，实现双向流式通信与收敛监控。</a:t>
            </a:r>
          </a:p>
          <a:p>
            <a:pPr>
              <a:spcBef>
                <a:spcPts val="1400"/>
              </a:spcBef>
              <a:defRPr sz="1300" b="1">
                <a:solidFill>
                  <a:srgbClr val="38BDF8"/>
                </a:solidFill>
              </a:defRPr>
            </a:pPr>
            <a:r>
              <a:t>★  确定性审计与高可用对账引擎</a:t>
            </a:r>
          </a:p>
          <a:p>
            <a:pPr>
              <a:spcBef>
                <a:spcPts val="400"/>
              </a:spcBef>
              <a:defRPr sz="1100">
                <a:solidFill>
                  <a:srgbClr val="CBD5E1"/>
                </a:solidFill>
              </a:defRPr>
            </a:pPr>
            <a:r>
              <a:t>基于 Room 数据库构建确定性状态机，保障实验记录不可篡改，异常中断可自愈，杜绝模型幻觉导致的数据误删。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SCIENTIFIC APPLICATIONS</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科算应用：全方位赋能新药研发、合成生物与中药产业</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6 / 11</a:t>
            </a:r>
          </a:p>
        </p:txBody>
      </p:sp>
      <p:sp>
        <p:nvSpPr>
          <p:cNvPr id="5" name="Rounded Rectangle 4"/>
          <p:cNvSpPr/>
          <p:nvPr/>
        </p:nvSpPr>
        <p:spPr>
          <a:xfrm>
            <a:off x="731520" y="1508760"/>
            <a:ext cx="5257800" cy="20574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sz="1500" b="1">
                <a:solidFill>
                  <a:srgbClr val="FBBF24"/>
                </a:solidFill>
              </a:defRPr>
            </a:pPr>
            <a:r>
              <a:t>场景一：创新药物与中药野外勘测</a:t>
            </a:r>
          </a:p>
          <a:p>
            <a:pPr>
              <a:spcBef>
                <a:spcPts val="200"/>
              </a:spcBef>
              <a:defRPr sz="1100">
                <a:solidFill>
                  <a:srgbClr val="34D399"/>
                </a:solidFill>
              </a:defRPr>
            </a:pPr>
            <a:r>
              <a:t>对接赛道：领域一：新药/中药</a:t>
            </a:r>
          </a:p>
          <a:p>
            <a:pPr>
              <a:spcBef>
                <a:spcPts val="600"/>
              </a:spcBef>
              <a:defRPr sz="1100">
                <a:solidFill>
                  <a:srgbClr val="CBD5E1"/>
                </a:solidFill>
              </a:defRPr>
            </a:pPr>
            <a:r>
              <a:t>野外道地药材与植物采样无网环境下，手机离线识别物种并进行图谱初筛；联网后联动私有/商业模型或超算进行靶点反向筛选。</a:t>
            </a:r>
          </a:p>
        </p:txBody>
      </p:sp>
      <p:sp>
        <p:nvSpPr>
          <p:cNvPr id="6" name="Rounded Rectangle 5"/>
          <p:cNvSpPr/>
          <p:nvPr/>
        </p:nvSpPr>
        <p:spPr>
          <a:xfrm>
            <a:off x="6172200" y="1508760"/>
            <a:ext cx="5257800" cy="20574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sz="1500" b="1">
                <a:solidFill>
                  <a:srgbClr val="FBBF24"/>
                </a:solidFill>
              </a:defRPr>
            </a:pPr>
            <a:r>
              <a:t>场景二：合成生物中试发酵车间巡检</a:t>
            </a:r>
          </a:p>
          <a:p>
            <a:pPr>
              <a:spcBef>
                <a:spcPts val="200"/>
              </a:spcBef>
              <a:defRPr sz="1100">
                <a:solidFill>
                  <a:srgbClr val="34D399"/>
                </a:solidFill>
              </a:defRPr>
            </a:pPr>
            <a:r>
              <a:t>对接赛道：领域二：生物制造</a:t>
            </a:r>
          </a:p>
          <a:p>
            <a:pPr>
              <a:spcBef>
                <a:spcPts val="600"/>
              </a:spcBef>
              <a:defRPr sz="1100">
                <a:solidFill>
                  <a:srgbClr val="CBD5E1"/>
                </a:solidFill>
              </a:defRPr>
            </a:pPr>
            <a:r>
              <a:t>在孝感等中试车间，巡检人员手持终端读取生物反应器数据，本地评估溶氧与pH；调用酶动力学模型秒级生成补料优化方案。</a:t>
            </a:r>
          </a:p>
        </p:txBody>
      </p:sp>
      <p:sp>
        <p:nvSpPr>
          <p:cNvPr id="7" name="Rounded Rectangle 6"/>
          <p:cNvSpPr/>
          <p:nvPr/>
        </p:nvSpPr>
        <p:spPr>
          <a:xfrm>
            <a:off x="731520" y="3749040"/>
            <a:ext cx="5257800" cy="20574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sz="1500" b="1">
                <a:solidFill>
                  <a:srgbClr val="FBBF24"/>
                </a:solidFill>
              </a:defRPr>
            </a:pPr>
            <a:r>
              <a:t>场景三：端-超协同生命计算基础设施</a:t>
            </a:r>
          </a:p>
          <a:p>
            <a:pPr>
              <a:spcBef>
                <a:spcPts val="200"/>
              </a:spcBef>
              <a:defRPr sz="1100">
                <a:solidFill>
                  <a:srgbClr val="34D399"/>
                </a:solidFill>
              </a:defRPr>
            </a:pPr>
            <a:r>
              <a:t>对接赛道：领域三：主申报赛道</a:t>
            </a:r>
          </a:p>
          <a:p>
            <a:pPr>
              <a:spcBef>
                <a:spcPts val="600"/>
              </a:spcBef>
              <a:defRPr sz="1100">
                <a:solidFill>
                  <a:srgbClr val="CBD5E1"/>
                </a:solidFill>
              </a:defRPr>
            </a:pPr>
            <a:r>
              <a:t>为高校与药企打造新一代移动生信工作台，实验科学家在洁净室内随时唤醒算力，完成微观参数到宏观万核仿真的秒级闭环。</a:t>
            </a:r>
          </a:p>
        </p:txBody>
      </p:sp>
      <p:sp>
        <p:nvSpPr>
          <p:cNvPr id="8" name="Rounded Rectangle 7"/>
          <p:cNvSpPr/>
          <p:nvPr/>
        </p:nvSpPr>
        <p:spPr>
          <a:xfrm>
            <a:off x="6172200" y="3749040"/>
            <a:ext cx="5257800" cy="20574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sz="1500" b="1">
                <a:solidFill>
                  <a:srgbClr val="FBBF24"/>
                </a:solidFill>
              </a:defRPr>
            </a:pPr>
            <a:r>
              <a:t>场景四：智能医疗器械与精准医疗</a:t>
            </a:r>
          </a:p>
          <a:p>
            <a:pPr>
              <a:spcBef>
                <a:spcPts val="200"/>
              </a:spcBef>
              <a:defRPr sz="1100">
                <a:solidFill>
                  <a:srgbClr val="34D399"/>
                </a:solidFill>
              </a:defRPr>
            </a:pPr>
            <a:r>
              <a:t>对接赛道：领域四：智能器械</a:t>
            </a:r>
          </a:p>
          <a:p>
            <a:pPr>
              <a:spcBef>
                <a:spcPts val="600"/>
              </a:spcBef>
              <a:defRPr sz="1100">
                <a:solidFill>
                  <a:srgbClr val="CBD5E1"/>
                </a:solidFill>
              </a:defRPr>
            </a:pPr>
            <a:r>
              <a:t>对接便携床旁检验设备（POCT），移动端就地完成原始电生理/光谱信号降噪，联动私有化大模型提供多模态精准辅助诊断。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BUSINESS MODEL</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商业模式：立足科研生态，服务药企研发与生物制造基地</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7 / 11</a:t>
            </a:r>
          </a:p>
        </p:txBody>
      </p:sp>
      <p:sp>
        <p:nvSpPr>
          <p:cNvPr id="5" name="Rounded Rectangle 4"/>
          <p:cNvSpPr/>
          <p:nvPr/>
        </p:nvSpPr>
        <p:spPr>
          <a:xfrm>
            <a:off x="731520" y="1508760"/>
            <a:ext cx="3429000"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650" b="1">
                <a:solidFill>
                  <a:srgbClr val="F8FAFC"/>
                </a:solidFill>
              </a:defRPr>
            </a:pPr>
            <a:r>
              <a:t>科研/高校免费版</a:t>
            </a:r>
          </a:p>
          <a:p>
            <a:pPr>
              <a:spcBef>
                <a:spcPts val="400"/>
              </a:spcBef>
              <a:defRPr sz="1100">
                <a:solidFill>
                  <a:srgbClr val="94A3B8"/>
                </a:solidFill>
              </a:defRPr>
            </a:pPr>
            <a:r>
              <a:t>构建学术生态与用户漏斗</a:t>
            </a:r>
          </a:p>
          <a:p>
            <a:pPr>
              <a:spcBef>
                <a:spcPts val="1200"/>
              </a:spcBef>
              <a:defRPr sz="1150">
                <a:solidFill>
                  <a:srgbClr val="CBD5E1"/>
                </a:solidFill>
              </a:defRPr>
            </a:pPr>
            <a:r>
              <a:t>✔  全功能生信文件管理与格式转换</a:t>
            </a:r>
          </a:p>
          <a:p>
            <a:pPr>
              <a:spcBef>
                <a:spcPts val="1200"/>
              </a:spcBef>
              <a:defRPr sz="1150">
                <a:solidFill>
                  <a:srgbClr val="CBD5E1"/>
                </a:solidFill>
              </a:defRPr>
            </a:pPr>
            <a:r>
              <a:t>✔  标准微量计算与本地离线沙箱</a:t>
            </a:r>
          </a:p>
          <a:p>
            <a:pPr>
              <a:spcBef>
                <a:spcPts val="1200"/>
              </a:spcBef>
              <a:defRPr sz="1150">
                <a:solidFill>
                  <a:srgbClr val="CBD5E1"/>
                </a:solidFill>
              </a:defRPr>
            </a:pPr>
            <a:r>
              <a:t>✔  支持接入用户自有 API (BYOK)</a:t>
            </a:r>
          </a:p>
          <a:p>
            <a:pPr>
              <a:spcBef>
                <a:spcPts val="1200"/>
              </a:spcBef>
              <a:defRPr sz="1150">
                <a:solidFill>
                  <a:srgbClr val="CBD5E1"/>
                </a:solidFill>
              </a:defRPr>
            </a:pPr>
            <a:r>
              <a:t>✔  渗透全国生物医药高校与课题组</a:t>
            </a:r>
          </a:p>
        </p:txBody>
      </p:sp>
      <p:sp>
        <p:nvSpPr>
          <p:cNvPr id="6" name="Rounded Rectangle 5"/>
          <p:cNvSpPr/>
          <p:nvPr/>
        </p:nvSpPr>
        <p:spPr>
          <a:xfrm>
            <a:off x="4379976" y="1508760"/>
            <a:ext cx="3429000" cy="4480560"/>
          </a:xfrm>
          <a:prstGeom prst="roundRect">
            <a:avLst/>
          </a:prstGeom>
          <a:solidFill>
            <a:srgbClr val="131F3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650" b="1">
                <a:solidFill>
                  <a:srgbClr val="34D399"/>
                </a:solidFill>
              </a:defRPr>
            </a:pPr>
            <a:r>
              <a:t>Pro 生信专业版</a:t>
            </a:r>
          </a:p>
          <a:p>
            <a:pPr>
              <a:spcBef>
                <a:spcPts val="400"/>
              </a:spcBef>
              <a:defRPr sz="1100">
                <a:solidFill>
                  <a:srgbClr val="94A3B8"/>
                </a:solidFill>
              </a:defRPr>
            </a:pPr>
            <a:r>
              <a:t>面向专业工程师与研究员</a:t>
            </a:r>
          </a:p>
          <a:p>
            <a:pPr>
              <a:spcBef>
                <a:spcPts val="1200"/>
              </a:spcBef>
              <a:defRPr sz="1150">
                <a:solidFill>
                  <a:srgbClr val="CBD5E1"/>
                </a:solidFill>
              </a:defRPr>
            </a:pPr>
            <a:r>
              <a:t>✔  PRoot 完整生信 Linux 容器持续自愈</a:t>
            </a:r>
          </a:p>
          <a:p>
            <a:pPr>
              <a:spcBef>
                <a:spcPts val="1200"/>
              </a:spcBef>
              <a:defRPr sz="1150">
                <a:solidFill>
                  <a:srgbClr val="CBD5E1"/>
                </a:solidFill>
              </a:defRPr>
            </a:pPr>
            <a:r>
              <a:t>✔  多通道异构算力一键调度与管理</a:t>
            </a:r>
          </a:p>
          <a:p>
            <a:pPr>
              <a:spcBef>
                <a:spcPts val="1200"/>
              </a:spcBef>
              <a:defRPr sz="1150">
                <a:solidFill>
                  <a:srgbClr val="CBD5E1"/>
                </a:solidFill>
              </a:defRPr>
            </a:pPr>
            <a:r>
              <a:t>✔  实时长任务终端 (PTY) 与无损恢复</a:t>
            </a:r>
          </a:p>
          <a:p>
            <a:pPr>
              <a:spcBef>
                <a:spcPts val="1200"/>
              </a:spcBef>
              <a:defRPr sz="1150">
                <a:solidFill>
                  <a:srgbClr val="CBD5E1"/>
                </a:solidFill>
              </a:defRPr>
            </a:pPr>
            <a:r>
              <a:t>✔  支持个人买断与年度维护订阅</a:t>
            </a:r>
          </a:p>
        </p:txBody>
      </p:sp>
      <p:sp>
        <p:nvSpPr>
          <p:cNvPr id="7" name="Rounded Rectangle 6"/>
          <p:cNvSpPr/>
          <p:nvPr/>
        </p:nvSpPr>
        <p:spPr>
          <a:xfrm>
            <a:off x="8028432" y="1508760"/>
            <a:ext cx="3429000" cy="4480560"/>
          </a:xfrm>
          <a:prstGeom prst="roundRect">
            <a:avLst/>
          </a:prstGeom>
          <a:solidFill>
            <a:srgbClr val="131F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650" b="1">
                <a:solidFill>
                  <a:srgbClr val="38BDF8"/>
                </a:solidFill>
              </a:defRPr>
            </a:pPr>
            <a:r>
              <a:t>基地与企业定制套件</a:t>
            </a:r>
          </a:p>
          <a:p>
            <a:pPr>
              <a:spcBef>
                <a:spcPts val="400"/>
              </a:spcBef>
              <a:defRPr sz="1100">
                <a:solidFill>
                  <a:srgbClr val="94A3B8"/>
                </a:solidFill>
              </a:defRPr>
            </a:pPr>
            <a:r>
              <a:t>面向中试车间与涉密药企</a:t>
            </a:r>
          </a:p>
          <a:p>
            <a:pPr>
              <a:spcBef>
                <a:spcPts val="1200"/>
              </a:spcBef>
              <a:defRPr sz="1150">
                <a:solidFill>
                  <a:srgbClr val="CBD5E1"/>
                </a:solidFill>
              </a:defRPr>
            </a:pPr>
            <a:r>
              <a:t>✔  合成生物发酵反应器巡检专属插件</a:t>
            </a:r>
          </a:p>
          <a:p>
            <a:pPr>
              <a:spcBef>
                <a:spcPts val="1200"/>
              </a:spcBef>
              <a:defRPr sz="1150">
                <a:solidFill>
                  <a:srgbClr val="CBD5E1"/>
                </a:solidFill>
              </a:defRPr>
            </a:pPr>
            <a:r>
              <a:t>✔  药企涉密局域网私有模型与超算直连</a:t>
            </a:r>
          </a:p>
          <a:p>
            <a:pPr>
              <a:spcBef>
                <a:spcPts val="1200"/>
              </a:spcBef>
              <a:defRPr sz="1150">
                <a:solidFill>
                  <a:srgbClr val="CBD5E1"/>
                </a:solidFill>
              </a:defRPr>
            </a:pPr>
            <a:r>
              <a:t>✔  生物传感与工业现场协议软硬件协同</a:t>
            </a:r>
          </a:p>
          <a:p>
            <a:pPr>
              <a:spcBef>
                <a:spcPts val="1200"/>
              </a:spcBef>
              <a:defRPr sz="1150">
                <a:solidFill>
                  <a:srgbClr val="CBD5E1"/>
                </a:solidFill>
              </a:defRPr>
            </a:pPr>
            <a:r>
              <a:t>✔  提供机构级合规审计与现场技术保障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ROADMAP &amp; MILESTONES</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落地规划：扎实的技术演进与标杆示范基地建设</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8 / 11</a:t>
            </a:r>
          </a:p>
        </p:txBody>
      </p:sp>
      <p:sp>
        <p:nvSpPr>
          <p:cNvPr id="5" name="Rounded Rectangle 4"/>
          <p:cNvSpPr/>
          <p:nvPr/>
        </p:nvSpPr>
        <p:spPr>
          <a:xfrm>
            <a:off x="731520" y="1508760"/>
            <a:ext cx="2542032"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1400" b="1">
                <a:solidFill>
                  <a:srgbClr val="34D399"/>
                </a:solidFill>
              </a:defRPr>
            </a:pPr>
            <a:r>
              <a:t>Phase 1: 端侧沙箱就绪</a:t>
            </a:r>
          </a:p>
          <a:p>
            <a:pPr>
              <a:spcBef>
                <a:spcPts val="400"/>
              </a:spcBef>
              <a:defRPr sz="1100">
                <a:solidFill>
                  <a:srgbClr val="FBBF24"/>
                </a:solidFill>
              </a:defRPr>
            </a:pPr>
            <a:r>
              <a:t>已就绪验证</a:t>
            </a:r>
          </a:p>
          <a:p>
            <a:pPr>
              <a:spcBef>
                <a:spcPts val="1400"/>
              </a:spcBef>
              <a:defRPr sz="1050">
                <a:solidFill>
                  <a:srgbClr val="CBD5E1"/>
                </a:solidFill>
              </a:defRPr>
            </a:pPr>
            <a:r>
              <a:t>● 完成 Android 多执行域与安全沙箱</a:t>
            </a:r>
            <a:br/>
            <a:r>
              <a:t>● 成功跑通移动端 Biopython/RDKit</a:t>
            </a:r>
            <a:br/>
            <a:r>
              <a:t>● 交付 SAF 生信文件读写与原子写入</a:t>
            </a:r>
            <a:br/>
            <a:r>
              <a:t>● 验证离线单机数据清洗闭环</a:t>
            </a:r>
          </a:p>
        </p:txBody>
      </p:sp>
      <p:sp>
        <p:nvSpPr>
          <p:cNvPr id="6" name="Rounded Rectangle 5"/>
          <p:cNvSpPr/>
          <p:nvPr/>
        </p:nvSpPr>
        <p:spPr>
          <a:xfrm>
            <a:off x="3456432" y="1508760"/>
            <a:ext cx="2542032"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1400" b="1">
                <a:solidFill>
                  <a:srgbClr val="34D399"/>
                </a:solidFill>
              </a:defRPr>
            </a:pPr>
            <a:r>
              <a:t>Phase 2: 算力中心示范对接</a:t>
            </a:r>
          </a:p>
          <a:p>
            <a:pPr>
              <a:spcBef>
                <a:spcPts val="400"/>
              </a:spcBef>
              <a:defRPr sz="1100">
                <a:solidFill>
                  <a:srgbClr val="FBBF24"/>
                </a:solidFill>
              </a:defRPr>
            </a:pPr>
            <a:r>
              <a:t>大赛推进期 (1-3月)</a:t>
            </a:r>
          </a:p>
          <a:p>
            <a:pPr>
              <a:spcBef>
                <a:spcPts val="1400"/>
              </a:spcBef>
              <a:defRPr sz="1050">
                <a:solidFill>
                  <a:srgbClr val="CBD5E1"/>
                </a:solidFill>
              </a:defRPr>
            </a:pPr>
            <a:r>
              <a:t>● 示范对接长江3D科学计算中心 API</a:t>
            </a:r>
            <a:br/>
            <a:r>
              <a:t>● 打通私有化模型 (vLLM) 移动端调度</a:t>
            </a:r>
            <a:br/>
            <a:r>
              <a:t>● 交付流式 PTY 终端与收敛日志推流</a:t>
            </a:r>
            <a:br/>
            <a:r>
              <a:t>● 开启高校生信实验室小范围封闭内测</a:t>
            </a:r>
          </a:p>
        </p:txBody>
      </p:sp>
      <p:sp>
        <p:nvSpPr>
          <p:cNvPr id="7" name="Rounded Rectangle 6"/>
          <p:cNvSpPr/>
          <p:nvPr/>
        </p:nvSpPr>
        <p:spPr>
          <a:xfrm>
            <a:off x="6181344" y="1508760"/>
            <a:ext cx="2542032"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1400" b="1">
                <a:solidFill>
                  <a:srgbClr val="38BDF8"/>
                </a:solidFill>
              </a:defRPr>
            </a:pPr>
            <a:r>
              <a:t>Phase 3: 孝感基地中试试点</a:t>
            </a:r>
          </a:p>
          <a:p>
            <a:pPr>
              <a:spcBef>
                <a:spcPts val="400"/>
              </a:spcBef>
              <a:defRPr sz="1100">
                <a:solidFill>
                  <a:srgbClr val="FBBF24"/>
                </a:solidFill>
              </a:defRPr>
            </a:pPr>
            <a:r>
              <a:t>产业试点期 (4-8月)</a:t>
            </a:r>
          </a:p>
          <a:p>
            <a:pPr>
              <a:spcBef>
                <a:spcPts val="1400"/>
              </a:spcBef>
              <a:defRPr sz="1050">
                <a:solidFill>
                  <a:srgbClr val="CBD5E1"/>
                </a:solidFill>
              </a:defRPr>
            </a:pPr>
            <a:r>
              <a:t>● 进驻孝感合成生物制造基地开展试点</a:t>
            </a:r>
            <a:br/>
            <a:r>
              <a:t>● 部署生物反应器中试掌上巡检方案</a:t>
            </a:r>
            <a:br/>
            <a:r>
              <a:t>● 联合中医药机构实测野外离线采样</a:t>
            </a:r>
            <a:br/>
            <a:r>
              <a:t>● 推出首个生命科技商业化订阅包</a:t>
            </a:r>
          </a:p>
        </p:txBody>
      </p:sp>
      <p:sp>
        <p:nvSpPr>
          <p:cNvPr id="8" name="Rounded Rectangle 7"/>
          <p:cNvSpPr/>
          <p:nvPr/>
        </p:nvSpPr>
        <p:spPr>
          <a:xfrm>
            <a:off x="8906256" y="1508760"/>
            <a:ext cx="2542032"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1400" b="1">
                <a:solidFill>
                  <a:srgbClr val="38BDF8"/>
                </a:solidFill>
              </a:defRPr>
            </a:pPr>
            <a:r>
              <a:t>Phase 4: 全行业规模化繁荣</a:t>
            </a:r>
          </a:p>
          <a:p>
            <a:pPr>
              <a:spcBef>
                <a:spcPts val="400"/>
              </a:spcBef>
              <a:defRPr sz="1100">
                <a:solidFill>
                  <a:srgbClr val="FBBF24"/>
                </a:solidFill>
              </a:defRPr>
            </a:pPr>
            <a:r>
              <a:t>规模推广期 (9-18月)</a:t>
            </a:r>
          </a:p>
          <a:p>
            <a:pPr>
              <a:spcBef>
                <a:spcPts val="1400"/>
              </a:spcBef>
              <a:defRPr sz="1050">
                <a:solidFill>
                  <a:srgbClr val="CBD5E1"/>
                </a:solidFill>
              </a:defRPr>
            </a:pPr>
            <a:r>
              <a:t>● 接入 100+ 款主流生信/制药工具链</a:t>
            </a:r>
            <a:br/>
            <a:r>
              <a:t>● 打造生命科学移动算力调度通用标准</a:t>
            </a:r>
            <a:br/>
            <a:r>
              <a:t>● 覆盖全国 100+ 重点医药高校与药企</a:t>
            </a:r>
            <a:br/>
            <a:r>
              <a:t>● 实现端-超协同生态规模化盈利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TEAM &amp; COMPETENCY</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核心团队与竞争优势：跨界融合的底层工程与计算生物基因</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9 / 11</a:t>
            </a:r>
          </a:p>
        </p:txBody>
      </p:sp>
      <p:sp>
        <p:nvSpPr>
          <p:cNvPr id="5" name="Rounded Rectangle 4"/>
          <p:cNvSpPr/>
          <p:nvPr/>
        </p:nvSpPr>
        <p:spPr>
          <a:xfrm>
            <a:off x="731520" y="1508760"/>
            <a:ext cx="3429000" cy="246888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500" b="1">
                <a:solidFill>
                  <a:srgbClr val="F8FAFC"/>
                </a:solidFill>
              </a:defRPr>
            </a:pPr>
            <a:r>
              <a:t>移动系统与容器底层专家</a:t>
            </a:r>
          </a:p>
          <a:p>
            <a:pPr>
              <a:spcBef>
                <a:spcPts val="400"/>
              </a:spcBef>
              <a:defRPr sz="1100">
                <a:solidFill>
                  <a:srgbClr val="34D399"/>
                </a:solidFill>
              </a:defRPr>
            </a:pPr>
            <a:r>
              <a:t>联合创始人 / 系统架构师</a:t>
            </a:r>
          </a:p>
          <a:p>
            <a:pPr>
              <a:spcBef>
                <a:spcPts val="800"/>
              </a:spcBef>
              <a:defRPr sz="1100">
                <a:solidFill>
                  <a:srgbClr val="CBD5E1"/>
                </a:solidFill>
              </a:defRPr>
            </a:pPr>
            <a:r>
              <a:t>前知名科技企业系统底层工程师，深耕 Linux 容器化、Android 内核及多进程 IPC 通信，主导过大规模移动沙箱与底层虚拟化工程项目。</a:t>
            </a:r>
          </a:p>
        </p:txBody>
      </p:sp>
      <p:sp>
        <p:nvSpPr>
          <p:cNvPr id="6" name="Rounded Rectangle 5"/>
          <p:cNvSpPr/>
          <p:nvPr/>
        </p:nvSpPr>
        <p:spPr>
          <a:xfrm>
            <a:off x="4379976" y="1508760"/>
            <a:ext cx="3429000" cy="246888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500" b="1">
                <a:solidFill>
                  <a:srgbClr val="F8FAFC"/>
                </a:solidFill>
              </a:defRPr>
            </a:pPr>
            <a:r>
              <a:t>计算生物学与 AI 算法专家</a:t>
            </a:r>
          </a:p>
          <a:p>
            <a:pPr>
              <a:spcBef>
                <a:spcPts val="400"/>
              </a:spcBef>
              <a:defRPr sz="1100">
                <a:solidFill>
                  <a:srgbClr val="34D399"/>
                </a:solidFill>
              </a:defRPr>
            </a:pPr>
            <a:r>
              <a:t>联合创始人 / 生信科学家</a:t>
            </a:r>
          </a:p>
          <a:p>
            <a:pPr>
              <a:spcBef>
                <a:spcPts val="800"/>
              </a:spcBef>
              <a:defRPr sz="1100">
                <a:solidFill>
                  <a:srgbClr val="CBD5E1"/>
                </a:solidFill>
              </a:defRPr>
            </a:pPr>
            <a:r>
              <a:t>知名药企与计算生物实验室背景，精通分子对接、高通量分子动力学模拟算法与异构算力集群调度，具备扎实的生信实战经验。</a:t>
            </a:r>
          </a:p>
        </p:txBody>
      </p:sp>
      <p:sp>
        <p:nvSpPr>
          <p:cNvPr id="7" name="Rounded Rectangle 6"/>
          <p:cNvSpPr/>
          <p:nvPr/>
        </p:nvSpPr>
        <p:spPr>
          <a:xfrm>
            <a:off x="8028432" y="1508760"/>
            <a:ext cx="3429000" cy="246888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500" b="1">
                <a:solidFill>
                  <a:srgbClr val="F8FAFC"/>
                </a:solidFill>
              </a:defRPr>
            </a:pPr>
            <a:r>
              <a:t>生物制造与外业场景专家</a:t>
            </a:r>
          </a:p>
          <a:p>
            <a:pPr>
              <a:spcBef>
                <a:spcPts val="400"/>
              </a:spcBef>
              <a:defRPr sz="1100">
                <a:solidFill>
                  <a:srgbClr val="34D399"/>
                </a:solidFill>
              </a:defRPr>
            </a:pPr>
            <a:r>
              <a:t>产品与产业化负责人</a:t>
            </a:r>
          </a:p>
          <a:p>
            <a:pPr>
              <a:spcBef>
                <a:spcPts val="800"/>
              </a:spcBef>
              <a:defRPr sz="1100">
                <a:solidFill>
                  <a:srgbClr val="CBD5E1"/>
                </a:solidFill>
              </a:defRPr>
            </a:pPr>
            <a:r>
              <a:t>具备大型生物化工中试发酵车间工艺经验与重大科研外业科考实操背景，深刻理解湿实验台与生产车间的痛点需求。</a:t>
            </a:r>
          </a:p>
        </p:txBody>
      </p:sp>
      <p:sp>
        <p:nvSpPr>
          <p:cNvPr id="8" name="Rounded Rectangle 7"/>
          <p:cNvSpPr/>
          <p:nvPr/>
        </p:nvSpPr>
        <p:spPr>
          <a:xfrm>
            <a:off x="731520" y="4206240"/>
            <a:ext cx="10728655" cy="1828800"/>
          </a:xfrm>
          <a:prstGeom prst="roundRect">
            <a:avLst/>
          </a:prstGeom>
          <a:solidFill>
            <a:srgbClr val="10242E"/>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sz="1500" b="1">
                <a:solidFill>
                  <a:srgbClr val="34D399"/>
                </a:solidFill>
              </a:defRPr>
            </a:pPr>
            <a:r>
              <a:t>差异化竞争壁垒：端-超协同稀缺性 + 开放中立算力架构</a:t>
            </a:r>
          </a:p>
          <a:p>
            <a:pPr>
              <a:spcBef>
                <a:spcPts val="600"/>
              </a:spcBef>
              <a:defRPr sz="1150">
                <a:solidFill>
                  <a:srgbClr val="CBD5E1"/>
                </a:solidFill>
              </a:defRPr>
            </a:pPr>
            <a:r>
              <a:t>1. 全球稀缺的端-超协同移动基座：打破传统超算必须绑死电脑桌面的宿命，让高通量算力真正渗透进湿实验台与发酵车间；</a:t>
            </a:r>
            <a:br/>
            <a:r>
              <a:t>2. 极高工程门槛的免 Root 生信沙箱：在商用 Android 系统下安全调谐容器化生信环境，兼具高安全合规与专业生信计算能力；</a:t>
            </a:r>
            <a:br/>
            <a:r>
              <a:t>3. 中立开放的混合算力体系：不绑定特定供应商，全面支持私有化部署大模型、商业 API 与公共超算中心，具备广阔商业空间。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57200"/>
            <a:ext cx="10698480" cy="365760"/>
          </a:xfrm>
          <a:prstGeom prst="rect">
            <a:avLst/>
          </a:prstGeom>
          <a:noFill/>
        </p:spPr>
        <p:txBody>
          <a:bodyPr wrap="square" lIns="0" tIns="0" rIns="0" bIns="0">
            <a:spAutoFit/>
          </a:bodyPr>
          <a:lstStyle/>
          <a:p>
            <a:pPr>
              <a:defRPr sz="1100" b="1">
                <a:solidFill>
                  <a:srgbClr val="34D399"/>
                </a:solidFill>
              </a:defRPr>
            </a:pPr>
            <a:r>
              <a:t>FINANCING &amp; COLLABORATION</a:t>
            </a:r>
          </a:p>
        </p:txBody>
      </p:sp>
      <p:sp>
        <p:nvSpPr>
          <p:cNvPr id="3" name="TextBox 2"/>
          <p:cNvSpPr txBox="1"/>
          <p:nvPr/>
        </p:nvSpPr>
        <p:spPr>
          <a:xfrm>
            <a:off x="731520" y="777240"/>
            <a:ext cx="10698480" cy="640080"/>
          </a:xfrm>
          <a:prstGeom prst="rect">
            <a:avLst/>
          </a:prstGeom>
          <a:noFill/>
        </p:spPr>
        <p:txBody>
          <a:bodyPr wrap="square" lIns="0" tIns="0" rIns="0" bIns="0">
            <a:spAutoFit/>
          </a:bodyPr>
          <a:lstStyle/>
          <a:p>
            <a:pPr>
              <a:defRPr sz="2200" b="1">
                <a:solidFill>
                  <a:srgbClr val="F8FAFC"/>
                </a:solidFill>
              </a:defRPr>
            </a:pPr>
            <a:r>
              <a:t>融资需求与大赛协同：借力科算中心算力，加速孝感中试落地</a:t>
            </a:r>
          </a:p>
        </p:txBody>
      </p:sp>
      <p:sp>
        <p:nvSpPr>
          <p:cNvPr id="4" name="TextBox 3"/>
          <p:cNvSpPr txBox="1"/>
          <p:nvPr/>
        </p:nvSpPr>
        <p:spPr>
          <a:xfrm>
            <a:off x="731520" y="6309360"/>
            <a:ext cx="10698480" cy="365760"/>
          </a:xfrm>
          <a:prstGeom prst="rect">
            <a:avLst/>
          </a:prstGeom>
          <a:noFill/>
        </p:spPr>
        <p:txBody>
          <a:bodyPr wrap="none" lIns="0" tIns="0" rIns="0" bIns="0">
            <a:spAutoFit/>
          </a:bodyPr>
          <a:lstStyle/>
          <a:p>
            <a:pPr>
              <a:defRPr sz="1000">
                <a:solidFill>
                  <a:srgbClr val="94A3B8"/>
                </a:solidFill>
              </a:defRPr>
            </a:pPr>
            <a:r>
              <a:t>BioHelix · 端-超协同生命科学移动工作台  |  Confidential  |  10 / 11</a:t>
            </a:r>
          </a:p>
        </p:txBody>
      </p:sp>
      <p:sp>
        <p:nvSpPr>
          <p:cNvPr id="5" name="Rounded Rectangle 4"/>
          <p:cNvSpPr/>
          <p:nvPr/>
        </p:nvSpPr>
        <p:spPr>
          <a:xfrm>
            <a:off x="731520" y="1508760"/>
            <a:ext cx="5257800"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sz="1600" b="1">
                <a:solidFill>
                  <a:srgbClr val="34D399"/>
                </a:solidFill>
              </a:defRPr>
            </a:pPr>
            <a:r>
              <a:t>融资诉求与大赛支持</a:t>
            </a:r>
          </a:p>
          <a:p>
            <a:pPr>
              <a:spcBef>
                <a:spcPts val="1000"/>
              </a:spcBef>
              <a:defRPr sz="1250" b="1">
                <a:solidFill>
                  <a:srgbClr val="F8FAFC"/>
                </a:solidFill>
              </a:defRPr>
            </a:pPr>
            <a:r>
              <a:t>◆  融资轮次与诉求</a:t>
            </a:r>
          </a:p>
          <a:p>
            <a:pPr>
              <a:defRPr sz="1100">
                <a:solidFill>
                  <a:srgbClr val="CBD5E1"/>
                </a:solidFill>
              </a:defRPr>
            </a:pPr>
            <a:r>
              <a:t>    寻求天使轮 / 种子轮股权融资，出让 10% - 15% 股权</a:t>
            </a:r>
          </a:p>
          <a:p>
            <a:pPr>
              <a:spcBef>
                <a:spcPts val="1000"/>
              </a:spcBef>
              <a:defRPr sz="1250" b="1">
                <a:solidFill>
                  <a:srgbClr val="F8FAFC"/>
                </a:solidFill>
              </a:defRPr>
            </a:pPr>
            <a:r>
              <a:t>◆  长江3D科算中心算力对接</a:t>
            </a:r>
          </a:p>
          <a:p>
            <a:pPr>
              <a:defRPr sz="1100">
                <a:solidFill>
                  <a:srgbClr val="CBD5E1"/>
                </a:solidFill>
              </a:defRPr>
            </a:pPr>
            <a:r>
              <a:t>    申请作为首批标杆应用对接 3D 科算中心，打通端-超算力流式通道</a:t>
            </a:r>
          </a:p>
          <a:p>
            <a:pPr>
              <a:spcBef>
                <a:spcPts val="1000"/>
              </a:spcBef>
              <a:defRPr sz="1250" b="1">
                <a:solidFill>
                  <a:srgbClr val="F8FAFC"/>
                </a:solidFill>
              </a:defRPr>
            </a:pPr>
            <a:r>
              <a:t>◆  孝感生物制造基地场景入驻</a:t>
            </a:r>
          </a:p>
          <a:p>
            <a:pPr>
              <a:defRPr sz="1100">
                <a:solidFill>
                  <a:srgbClr val="CBD5E1"/>
                </a:solidFill>
              </a:defRPr>
            </a:pPr>
            <a:r>
              <a:t>    申请进驻孝感合成生物制造基地，实地部署发酵罐智能巡检试点</a:t>
            </a:r>
          </a:p>
          <a:p>
            <a:pPr>
              <a:spcBef>
                <a:spcPts val="1000"/>
              </a:spcBef>
              <a:defRPr sz="1250" b="1">
                <a:solidFill>
                  <a:srgbClr val="F8FAFC"/>
                </a:solidFill>
              </a:defRPr>
            </a:pPr>
            <a:r>
              <a:t>◆  55% 资金投向技术研发</a:t>
            </a:r>
          </a:p>
          <a:p>
            <a:pPr>
              <a:defRPr sz="1100">
                <a:solidFill>
                  <a:srgbClr val="CBD5E1"/>
                </a:solidFill>
              </a:defRPr>
            </a:pPr>
            <a:r>
              <a:t>    端-超协同调度优化、移动端 3D 分子低功耗流式渲染与生信工具适配</a:t>
            </a:r>
          </a:p>
        </p:txBody>
      </p:sp>
      <p:sp>
        <p:nvSpPr>
          <p:cNvPr id="6" name="Rounded Rectangle 5"/>
          <p:cNvSpPr/>
          <p:nvPr/>
        </p:nvSpPr>
        <p:spPr>
          <a:xfrm>
            <a:off x="6217920" y="1508760"/>
            <a:ext cx="5242255" cy="44805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sz="1600" b="1">
                <a:solidFill>
                  <a:srgbClr val="38BDF8"/>
                </a:solidFill>
              </a:defRPr>
            </a:pPr>
            <a:r>
              <a:t>未来 12 个月产业落地目标</a:t>
            </a:r>
          </a:p>
          <a:p>
            <a:pPr>
              <a:spcBef>
                <a:spcPts val="1200"/>
              </a:spcBef>
              <a:defRPr sz="1300" b="1">
                <a:solidFill>
                  <a:srgbClr val="38BDF8"/>
                </a:solidFill>
              </a:defRPr>
            </a:pPr>
            <a:r>
              <a:t>🎯  异构算力通道打通</a:t>
            </a:r>
          </a:p>
          <a:p>
            <a:pPr>
              <a:spcBef>
                <a:spcPts val="300"/>
              </a:spcBef>
              <a:defRPr sz="1100">
                <a:solidFill>
                  <a:srgbClr val="CBD5E1"/>
                </a:solidFill>
              </a:defRPr>
            </a:pPr>
            <a:r>
              <a:t>全面兼容 Slurm/PBS 集群、局域网私有大模型与主流商业 API，形成通用调度标准</a:t>
            </a:r>
          </a:p>
          <a:p>
            <a:pPr>
              <a:spcBef>
                <a:spcPts val="1200"/>
              </a:spcBef>
              <a:defRPr sz="1300" b="1">
                <a:solidFill>
                  <a:srgbClr val="38BDF8"/>
                </a:solidFill>
              </a:defRPr>
            </a:pPr>
            <a:r>
              <a:t>🎯  孝感基地中试示范</a:t>
            </a:r>
          </a:p>
          <a:p>
            <a:pPr>
              <a:spcBef>
                <a:spcPts val="300"/>
              </a:spcBef>
              <a:defRPr sz="1100">
                <a:solidFill>
                  <a:srgbClr val="CBD5E1"/>
                </a:solidFill>
              </a:defRPr>
            </a:pPr>
            <a:r>
              <a:t>在孝感合成生物制造基地落地示范车间，助力发酵异常预警与中试优化</a:t>
            </a:r>
          </a:p>
          <a:p>
            <a:pPr>
              <a:spcBef>
                <a:spcPts val="1200"/>
              </a:spcBef>
              <a:defRPr sz="1300" b="1">
                <a:solidFill>
                  <a:srgbClr val="38BDF8"/>
                </a:solidFill>
              </a:defRPr>
            </a:pPr>
            <a:r>
              <a:t>🎯  用户与科研合作</a:t>
            </a:r>
          </a:p>
          <a:p>
            <a:pPr>
              <a:spcBef>
                <a:spcPts val="300"/>
              </a:spcBef>
              <a:defRPr sz="1100">
                <a:solidFill>
                  <a:srgbClr val="CBD5E1"/>
                </a:solidFill>
              </a:defRPr>
            </a:pPr>
            <a:r>
              <a:t>覆盖 30+ 所高校生物医药国家重点实验室，激活 10,000+ 名生信科研人员</a:t>
            </a:r>
          </a:p>
          <a:p>
            <a:pPr>
              <a:spcBef>
                <a:spcPts val="1200"/>
              </a:spcBef>
              <a:defRPr sz="1300" b="1">
                <a:solidFill>
                  <a:srgbClr val="38BDF8"/>
                </a:solidFill>
              </a:defRPr>
            </a:pPr>
            <a:r>
              <a:t>🎯  商业订阅验证</a:t>
            </a:r>
          </a:p>
          <a:p>
            <a:pPr>
              <a:spcBef>
                <a:spcPts val="300"/>
              </a:spcBef>
              <a:defRPr sz="1100">
                <a:solidFill>
                  <a:srgbClr val="CBD5E1"/>
                </a:solidFill>
              </a:defRPr>
            </a:pPr>
            <a:r>
              <a:t>实现月度经常性收入 (MRR) 突破 50 万元人民币，构建正向商业造血循环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Rounded Rectangle 1"/>
          <p:cNvSpPr/>
          <p:nvPr/>
        </p:nvSpPr>
        <p:spPr>
          <a:xfrm>
            <a:off x="731520" y="1005840"/>
            <a:ext cx="10728655" cy="4846320"/>
          </a:xfrm>
          <a:prstGeom prst="roundRect">
            <a:avLst/>
          </a:prstGeom>
          <a:solidFill>
            <a:srgbClr val="101A32"/>
          </a:solidFill>
          <a:ln w="12700">
            <a:solidFill>
              <a:srgbClr val="2337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011680"/>
            <a:ext cx="9601200" cy="2743200"/>
          </a:xfrm>
          <a:prstGeom prst="rect">
            <a:avLst/>
          </a:prstGeom>
          <a:noFill/>
        </p:spPr>
        <p:txBody>
          <a:bodyPr wrap="square">
            <a:spAutoFit/>
          </a:bodyPr>
          <a:lstStyle/>
          <a:p>
            <a:pPr>
              <a:defRPr sz="3200" b="1">
                <a:solidFill>
                  <a:srgbClr val="F8FAFC"/>
                </a:solidFill>
              </a:defRPr>
            </a:pPr>
            <a:r>
              <a:t>让超级算力直达生命科学实验第一线</a:t>
            </a:r>
          </a:p>
          <a:p>
            <a:pPr>
              <a:spcBef>
                <a:spcPts val="1200"/>
              </a:spcBef>
              <a:defRPr sz="1800">
                <a:solidFill>
                  <a:srgbClr val="34D399"/>
                </a:solidFill>
              </a:defRPr>
            </a:pPr>
            <a:r>
              <a:t>BioHelix —— 开放连接端侧沙箱、私有化算力与前沿大模型</a:t>
            </a:r>
          </a:p>
          <a:p>
            <a:pPr>
              <a:spcBef>
                <a:spcPts val="2000"/>
              </a:spcBef>
              <a:defRPr sz="1400">
                <a:solidFill>
                  <a:srgbClr val="CBD5E1"/>
                </a:solidFill>
              </a:defRPr>
            </a:pPr>
            <a:r>
              <a:t>欢迎各位领导、评委专家指导与交流！</a:t>
            </a:r>
            <a:br/>
            <a:br/>
            <a:r>
              <a:t>现场系统演示 Demo · 端-超调度实测 · 答辩问答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