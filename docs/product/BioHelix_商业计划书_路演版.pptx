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326"/>
        </a:solidFill>
        <a:effectLst/>
      </p:bgPr>
    </p:bg>
    <p:spTree>
      <p:nvGrpSpPr>
        <p:cNvPr id="1" name=""/>
        <p:cNvGrpSpPr/>
        <p:nvPr/>
      </p:nvGrpSpPr>
      <p:grpSpPr/>
      <p:sp>
        <p:nvSpPr>
          <p:cNvPr id="2" name="Rounded Rectangle 1"/>
          <p:cNvSpPr/>
          <p:nvPr/>
        </p:nvSpPr>
        <p:spPr>
          <a:xfrm>
            <a:off x="731520" y="1005840"/>
            <a:ext cx="10728655" cy="4846320"/>
          </a:xfrm>
          <a:prstGeom prst="roundRect">
            <a:avLst/>
          </a:prstGeom>
          <a:solidFill>
            <a:srgbClr val="101A32"/>
          </a:solidFill>
          <a:ln w="12700">
            <a:solidFill>
              <a:srgbClr val="2337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280160" y="1463040"/>
            <a:ext cx="3840480" cy="411480"/>
          </a:xfrm>
          <a:prstGeom prst="roundRect">
            <a:avLst/>
          </a:prstGeom>
          <a:solidFill>
            <a:srgbClr val="143228"/>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4D399"/>
                </a:solidFill>
              </a:defRPr>
            </a:pPr>
            <a:r>
              <a:t>长江3D科学计算中心 · 生命科学与算力基座专项</a:t>
            </a:r>
          </a:p>
        </p:txBody>
      </p:sp>
      <p:sp>
        <p:nvSpPr>
          <p:cNvPr id="4" name="TextBox 3"/>
          <p:cNvSpPr txBox="1"/>
          <p:nvPr/>
        </p:nvSpPr>
        <p:spPr>
          <a:xfrm>
            <a:off x="1280160" y="2103120"/>
            <a:ext cx="9601200" cy="2011680"/>
          </a:xfrm>
          <a:prstGeom prst="rect">
            <a:avLst/>
          </a:prstGeom>
          <a:noFill/>
        </p:spPr>
        <p:txBody>
          <a:bodyPr wrap="square">
            <a:spAutoFit/>
          </a:bodyPr>
          <a:lstStyle/>
          <a:p>
            <a:pPr>
              <a:defRPr sz="3400" b="1">
                <a:solidFill>
                  <a:srgbClr val="F8FAFC"/>
                </a:solidFill>
              </a:defRPr>
            </a:pPr>
            <a:r>
              <a:t>BioHelix 移动端生命科学 AI 执行工作台</a:t>
            </a:r>
          </a:p>
          <a:p>
            <a:pPr>
              <a:spcBef>
                <a:spcPts val="1200"/>
              </a:spcBef>
              <a:defRPr sz="1700">
                <a:solidFill>
                  <a:srgbClr val="38BDF8"/>
                </a:solidFill>
              </a:defRPr>
            </a:pPr>
            <a:r>
              <a:t>构建长江3D科学计算中心的掌上智能调度中枢 —— 从微观实验解析到宏观超算支撑</a:t>
            </a:r>
          </a:p>
          <a:p>
            <a:pPr>
              <a:spcBef>
                <a:spcPts val="1400"/>
              </a:spcBef>
              <a:defRPr sz="1300">
                <a:solidFill>
                  <a:srgbClr val="94A3B8"/>
                </a:solidFill>
              </a:defRPr>
            </a:pPr>
            <a:r>
              <a:t>参赛领域：AI 前沿交叉生命科技与算力基础开发应用  |  赋能：创新药物筛选 · 孝感合成生物中试</a:t>
            </a:r>
          </a:p>
        </p:txBody>
      </p:sp>
      <p:sp>
        <p:nvSpPr>
          <p:cNvPr id="5" name="TextBox 4"/>
          <p:cNvSpPr txBox="1"/>
          <p:nvPr/>
        </p:nvSpPr>
        <p:spPr>
          <a:xfrm>
            <a:off x="1280160" y="4846320"/>
            <a:ext cx="9601200" cy="548640"/>
          </a:xfrm>
          <a:prstGeom prst="rect">
            <a:avLst/>
          </a:prstGeom>
          <a:noFill/>
        </p:spPr>
        <p:txBody>
          <a:bodyPr wrap="none">
            <a:spAutoFit/>
          </a:bodyPr>
          <a:lstStyle/>
          <a:p>
            <a:pPr>
              <a:defRPr sz="1200">
                <a:solidFill>
                  <a:srgbClr val="CBD5E1"/>
                </a:solidFill>
              </a:defRPr>
            </a:pPr>
            <a:r>
              <a:t>申报项目：BioHelix 端-超协同智能中枢   |   团队：BioHelix 创新联合体   |   2026 年 9 月</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326"/>
        </a:solidFill>
        <a:effectLst/>
      </p:bgPr>
    </p:bg>
    <p:spTree>
      <p:nvGrpSpPr>
        <p:cNvPr id="1" name=""/>
        <p:cNvGrpSpPr/>
        <p:nvPr/>
      </p:nvGrpSpPr>
      <p:grpSpPr/>
      <p:sp>
        <p:nvSpPr>
          <p:cNvPr id="2" name="TextBox 1"/>
          <p:cNvSpPr txBox="1"/>
          <p:nvPr/>
        </p:nvSpPr>
        <p:spPr>
          <a:xfrm>
            <a:off x="731520" y="457200"/>
            <a:ext cx="10698480" cy="365760"/>
          </a:xfrm>
          <a:prstGeom prst="rect">
            <a:avLst/>
          </a:prstGeom>
          <a:noFill/>
        </p:spPr>
        <p:txBody>
          <a:bodyPr wrap="square" lIns="0" tIns="0" rIns="0" bIns="0">
            <a:spAutoFit/>
          </a:bodyPr>
          <a:lstStyle/>
          <a:p>
            <a:pPr>
              <a:defRPr sz="1100" b="1">
                <a:solidFill>
                  <a:srgbClr val="34D399"/>
                </a:solidFill>
              </a:defRPr>
            </a:pPr>
            <a:r>
              <a:t>EXECUTIVE SUMMARY</a:t>
            </a:r>
          </a:p>
        </p:txBody>
      </p:sp>
      <p:sp>
        <p:nvSpPr>
          <p:cNvPr id="3" name="TextBox 2"/>
          <p:cNvSpPr txBox="1"/>
          <p:nvPr/>
        </p:nvSpPr>
        <p:spPr>
          <a:xfrm>
            <a:off x="731520" y="777240"/>
            <a:ext cx="10698480" cy="640080"/>
          </a:xfrm>
          <a:prstGeom prst="rect">
            <a:avLst/>
          </a:prstGeom>
          <a:noFill/>
        </p:spPr>
        <p:txBody>
          <a:bodyPr wrap="square" lIns="0" tIns="0" rIns="0" bIns="0">
            <a:spAutoFit/>
          </a:bodyPr>
          <a:lstStyle/>
          <a:p>
            <a:pPr>
              <a:defRPr sz="2200" b="1">
                <a:solidFill>
                  <a:srgbClr val="F8FAFC"/>
                </a:solidFill>
              </a:defRPr>
            </a:pPr>
            <a:r>
              <a:t>项目概述：打造生物医药与生命科技的移动算力新基建</a:t>
            </a:r>
          </a:p>
        </p:txBody>
      </p:sp>
      <p:sp>
        <p:nvSpPr>
          <p:cNvPr id="4" name="TextBox 3"/>
          <p:cNvSpPr txBox="1"/>
          <p:nvPr/>
        </p:nvSpPr>
        <p:spPr>
          <a:xfrm>
            <a:off x="731520" y="6309360"/>
            <a:ext cx="10698480" cy="365760"/>
          </a:xfrm>
          <a:prstGeom prst="rect">
            <a:avLst/>
          </a:prstGeom>
          <a:noFill/>
        </p:spPr>
        <p:txBody>
          <a:bodyPr wrap="none" lIns="0" tIns="0" rIns="0" bIns="0">
            <a:spAutoFit/>
          </a:bodyPr>
          <a:lstStyle/>
          <a:p>
            <a:pPr>
              <a:defRPr sz="1000">
                <a:solidFill>
                  <a:srgbClr val="94A3B8"/>
                </a:solidFill>
              </a:defRPr>
            </a:pPr>
            <a:r>
              <a:t>BioHelix · 依托长江3D科学计算中心生命科技专项路演  |  Confidential  |  2 / 11</a:t>
            </a:r>
          </a:p>
        </p:txBody>
      </p:sp>
      <p:sp>
        <p:nvSpPr>
          <p:cNvPr id="5" name="Rounded Rectangle 4"/>
          <p:cNvSpPr/>
          <p:nvPr/>
        </p:nvSpPr>
        <p:spPr>
          <a:xfrm>
            <a:off x="731520" y="1508760"/>
            <a:ext cx="10728655" cy="2103120"/>
          </a:xfrm>
          <a:prstGeom prst="roundRect">
            <a:avLst/>
          </a:prstGeom>
          <a:solidFill>
            <a:srgbClr val="131F3A"/>
          </a:solidFill>
          <a:ln w="12700">
            <a:solidFill>
              <a:srgbClr val="26385E"/>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01168"/>
          <a:lstStyle/>
          <a:p>
            <a:pPr algn="ctr">
              <a:defRPr sz="1250" b="1">
                <a:solidFill>
                  <a:srgbClr val="FBBF24"/>
                </a:solidFill>
              </a:defRPr>
            </a:pPr>
            <a:r>
              <a:t>【项目核心概述 · 280字业内标准表达】</a:t>
            </a:r>
          </a:p>
          <a:p>
            <a:pPr>
              <a:spcBef>
                <a:spcPts val="600"/>
              </a:spcBef>
              <a:defRPr sz="1150">
                <a:solidFill>
                  <a:srgbClr val="CBD5E1"/>
                </a:solidFill>
              </a:defRPr>
            </a:pPr>
            <a:r>
              <a:t>BioHelix 是一款面向生命科技与生物医药的端-超协同移动 AI 执行工作台。项目针对实验台、洁净室及野外采样等现场“无电脑可用、涉密数据难出网、离线计算受限”的痛点，依托 Android 本机多执行域沙箱（QuickJS 与 PRoot Linux 容器），在移动端实现分子数据（PDB/FASTA/SDF）就地清洗、微量生信计算与实验流程自动化。</a:t>
            </a:r>
            <a:br/>
            <a:br/>
            <a:r>
              <a:t>平台深度对接长江3D科学计算中心，构筑“端侧微观数据预处理 → 超算宏观高通量仿真（虚拟筛选、分子动力学与酶催化推演） → 移动端流式对账与实验指导”的完整闭环。产品直接赋能创新药物研发、中药野外科考与孝感合成生物基地中试现场巡检，构建生命科学计算基础设施的掌上新质生产力底座。</a:t>
            </a:r>
          </a:p>
        </p:txBody>
      </p:sp>
      <p:sp>
        <p:nvSpPr>
          <p:cNvPr id="6" name="Rounded Rectangle 5"/>
          <p:cNvSpPr/>
          <p:nvPr/>
        </p:nvSpPr>
        <p:spPr>
          <a:xfrm>
            <a:off x="731520" y="3840480"/>
            <a:ext cx="3429000" cy="2194560"/>
          </a:xfrm>
          <a:prstGeom prst="roundRect">
            <a:avLst/>
          </a:prstGeom>
          <a:solidFill>
            <a:srgbClr val="131F3A"/>
          </a:solidFill>
          <a:ln w="12700">
            <a:solidFill>
              <a:srgbClr val="26385E"/>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500" b="1">
                <a:solidFill>
                  <a:srgbClr val="34D399"/>
                </a:solidFill>
              </a:defRPr>
            </a:pPr>
            <a:r>
              <a:t>微观端侧：现场闭环</a:t>
            </a:r>
          </a:p>
          <a:p>
            <a:pPr>
              <a:spcBef>
                <a:spcPts val="1000"/>
              </a:spcBef>
              <a:defRPr sz="1150">
                <a:solidFill>
                  <a:srgbClr val="CBD5E1"/>
                </a:solidFill>
              </a:defRPr>
            </a:pPr>
            <a:r>
              <a:t>洁净室/野外科考现场无需电脑，本地沙箱完成分子结构与基因序列格式清洗与轻量计算</a:t>
            </a:r>
          </a:p>
        </p:txBody>
      </p:sp>
      <p:sp>
        <p:nvSpPr>
          <p:cNvPr id="7" name="Rounded Rectangle 6"/>
          <p:cNvSpPr/>
          <p:nvPr/>
        </p:nvSpPr>
        <p:spPr>
          <a:xfrm>
            <a:off x="4379976" y="3840480"/>
            <a:ext cx="3429000" cy="2194560"/>
          </a:xfrm>
          <a:prstGeom prst="roundRect">
            <a:avLst/>
          </a:prstGeom>
          <a:solidFill>
            <a:srgbClr val="131F3A"/>
          </a:solidFill>
          <a:ln w="12700">
            <a:solidFill>
              <a:srgbClr val="26385E"/>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500" b="1">
                <a:solidFill>
                  <a:srgbClr val="38BDF8"/>
                </a:solidFill>
              </a:defRPr>
            </a:pPr>
            <a:r>
              <a:t>宏观算力：端-超协同</a:t>
            </a:r>
          </a:p>
          <a:p>
            <a:pPr>
              <a:spcBef>
                <a:spcPts val="1000"/>
              </a:spcBef>
              <a:defRPr sz="1150">
                <a:solidFill>
                  <a:srgbClr val="CBD5E1"/>
                </a:solidFill>
              </a:defRPr>
            </a:pPr>
            <a:r>
              <a:t>深度对接长江3D科学计算中心，在手机端自然语言一键下发千万级大分子对接与动力学仿真</a:t>
            </a:r>
          </a:p>
        </p:txBody>
      </p:sp>
      <p:sp>
        <p:nvSpPr>
          <p:cNvPr id="8" name="Rounded Rectangle 7"/>
          <p:cNvSpPr/>
          <p:nvPr/>
        </p:nvSpPr>
        <p:spPr>
          <a:xfrm>
            <a:off x="8028432" y="3840480"/>
            <a:ext cx="3429000" cy="2194560"/>
          </a:xfrm>
          <a:prstGeom prst="roundRect">
            <a:avLst/>
          </a:prstGeom>
          <a:solidFill>
            <a:srgbClr val="131F3A"/>
          </a:solidFill>
          <a:ln w="12700">
            <a:solidFill>
              <a:srgbClr val="26385E"/>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500" b="1">
                <a:solidFill>
                  <a:srgbClr val="FBBF24"/>
                </a:solidFill>
              </a:defRPr>
            </a:pPr>
            <a:r>
              <a:t>产业落地：孝感示范</a:t>
            </a:r>
          </a:p>
          <a:p>
            <a:pPr>
              <a:spcBef>
                <a:spcPts val="1000"/>
              </a:spcBef>
              <a:defRPr sz="1150">
                <a:solidFill>
                  <a:srgbClr val="CBD5E1"/>
                </a:solidFill>
              </a:defRPr>
            </a:pPr>
            <a:r>
              <a:t>无缝对接孝感合成生物基地发酵中试与医药产业，实现生物反应器巡检与工艺就地调控</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326"/>
        </a:solidFill>
        <a:effectLst/>
      </p:bgPr>
    </p:bg>
    <p:spTree>
      <p:nvGrpSpPr>
        <p:cNvPr id="1" name=""/>
        <p:cNvGrpSpPr/>
        <p:nvPr/>
      </p:nvGrpSpPr>
      <p:grpSpPr/>
      <p:sp>
        <p:nvSpPr>
          <p:cNvPr id="2" name="TextBox 1"/>
          <p:cNvSpPr txBox="1"/>
          <p:nvPr/>
        </p:nvSpPr>
        <p:spPr>
          <a:xfrm>
            <a:off x="731520" y="457200"/>
            <a:ext cx="10698480" cy="365760"/>
          </a:xfrm>
          <a:prstGeom prst="rect">
            <a:avLst/>
          </a:prstGeom>
          <a:noFill/>
        </p:spPr>
        <p:txBody>
          <a:bodyPr wrap="square" lIns="0" tIns="0" rIns="0" bIns="0">
            <a:spAutoFit/>
          </a:bodyPr>
          <a:lstStyle/>
          <a:p>
            <a:pPr>
              <a:defRPr sz="1100" b="1">
                <a:solidFill>
                  <a:srgbClr val="34D399"/>
                </a:solidFill>
              </a:defRPr>
            </a:pPr>
            <a:r>
              <a:t>MARKET PROBLEM</a:t>
            </a:r>
          </a:p>
        </p:txBody>
      </p:sp>
      <p:sp>
        <p:nvSpPr>
          <p:cNvPr id="3" name="TextBox 2"/>
          <p:cNvSpPr txBox="1"/>
          <p:nvPr/>
        </p:nvSpPr>
        <p:spPr>
          <a:xfrm>
            <a:off x="731520" y="777240"/>
            <a:ext cx="10698480" cy="640080"/>
          </a:xfrm>
          <a:prstGeom prst="rect">
            <a:avLst/>
          </a:prstGeom>
          <a:noFill/>
        </p:spPr>
        <p:txBody>
          <a:bodyPr wrap="square" lIns="0" tIns="0" rIns="0" bIns="0">
            <a:spAutoFit/>
          </a:bodyPr>
          <a:lstStyle/>
          <a:p>
            <a:pPr>
              <a:defRPr sz="2200" b="1">
                <a:solidFill>
                  <a:srgbClr val="F8FAFC"/>
                </a:solidFill>
              </a:defRPr>
            </a:pPr>
            <a:r>
              <a:t>行业痛点：生物医药研发“重计算在超算，真实验在现场”的断层</a:t>
            </a:r>
          </a:p>
        </p:txBody>
      </p:sp>
      <p:sp>
        <p:nvSpPr>
          <p:cNvPr id="4" name="TextBox 3"/>
          <p:cNvSpPr txBox="1"/>
          <p:nvPr/>
        </p:nvSpPr>
        <p:spPr>
          <a:xfrm>
            <a:off x="731520" y="6309360"/>
            <a:ext cx="10698480" cy="365760"/>
          </a:xfrm>
          <a:prstGeom prst="rect">
            <a:avLst/>
          </a:prstGeom>
          <a:noFill/>
        </p:spPr>
        <p:txBody>
          <a:bodyPr wrap="none" lIns="0" tIns="0" rIns="0" bIns="0">
            <a:spAutoFit/>
          </a:bodyPr>
          <a:lstStyle/>
          <a:p>
            <a:pPr>
              <a:defRPr sz="1000">
                <a:solidFill>
                  <a:srgbClr val="94A3B8"/>
                </a:solidFill>
              </a:defRPr>
            </a:pPr>
            <a:r>
              <a:t>BioHelix · 依托长江3D科学计算中心生命科技专项路演  |  Confidential  |  3 / 11</a:t>
            </a:r>
          </a:p>
        </p:txBody>
      </p:sp>
      <p:sp>
        <p:nvSpPr>
          <p:cNvPr id="5" name="Rounded Rectangle 4"/>
          <p:cNvSpPr/>
          <p:nvPr/>
        </p:nvSpPr>
        <p:spPr>
          <a:xfrm>
            <a:off x="731520" y="1508760"/>
            <a:ext cx="3429000" cy="3291840"/>
          </a:xfrm>
          <a:prstGeom prst="roundRect">
            <a:avLst/>
          </a:prstGeom>
          <a:solidFill>
            <a:srgbClr val="131F3A"/>
          </a:solidFill>
          <a:ln w="12700">
            <a:solidFill>
              <a:srgbClr val="26385E"/>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74320"/>
          <a:lstStyle/>
          <a:p>
            <a:pPr algn="ctr">
              <a:defRPr sz="1100" b="1">
                <a:solidFill>
                  <a:srgbClr val="FBBF24"/>
                </a:solidFill>
              </a:defRPr>
            </a:pPr>
            <a:r>
              <a:t>场景断层</a:t>
            </a:r>
          </a:p>
          <a:p>
            <a:pPr>
              <a:spcBef>
                <a:spcPts val="800"/>
              </a:spcBef>
              <a:defRPr sz="1500" b="1">
                <a:solidFill>
                  <a:srgbClr val="F8FAFC"/>
                </a:solidFill>
              </a:defRPr>
            </a:pPr>
            <a:r>
              <a:t>痛点一：实验现场缺乏计算工具</a:t>
            </a:r>
          </a:p>
          <a:p>
            <a:pPr>
              <a:spcBef>
                <a:spcPts val="1200"/>
              </a:spcBef>
              <a:defRPr sz="1200">
                <a:solidFill>
                  <a:srgbClr val="CBD5E1"/>
                </a:solidFill>
              </a:defRPr>
            </a:pPr>
            <a:r>
              <a:t>P2/P3 洁净室、生物反应器车间、野外采样区严禁或无法携带笨重电脑，科研人员在实验台前无法即时调用生信计算与对比文献。</a:t>
            </a:r>
          </a:p>
        </p:txBody>
      </p:sp>
      <p:sp>
        <p:nvSpPr>
          <p:cNvPr id="6" name="Rounded Rectangle 5"/>
          <p:cNvSpPr/>
          <p:nvPr/>
        </p:nvSpPr>
        <p:spPr>
          <a:xfrm>
            <a:off x="4379976" y="1508760"/>
            <a:ext cx="3429000" cy="3291840"/>
          </a:xfrm>
          <a:prstGeom prst="roundRect">
            <a:avLst/>
          </a:prstGeom>
          <a:solidFill>
            <a:srgbClr val="131F3A"/>
          </a:solidFill>
          <a:ln w="12700">
            <a:solidFill>
              <a:srgbClr val="26385E"/>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74320"/>
          <a:lstStyle/>
          <a:p>
            <a:pPr algn="ctr">
              <a:defRPr sz="1100" b="1">
                <a:solidFill>
                  <a:srgbClr val="FBBF24"/>
                </a:solidFill>
              </a:defRPr>
            </a:pPr>
            <a:r>
              <a:t>调度断层</a:t>
            </a:r>
          </a:p>
          <a:p>
            <a:pPr>
              <a:spcBef>
                <a:spcPts val="800"/>
              </a:spcBef>
              <a:defRPr sz="1500" b="1">
                <a:solidFill>
                  <a:srgbClr val="F8FAFC"/>
                </a:solidFill>
              </a:defRPr>
            </a:pPr>
            <a:r>
              <a:t>痛点二：超算算力调度割裂与滞后</a:t>
            </a:r>
          </a:p>
          <a:p>
            <a:pPr>
              <a:spcBef>
                <a:spcPts val="1200"/>
              </a:spcBef>
              <a:defRPr sz="1200">
                <a:solidFill>
                  <a:srgbClr val="CBD5E1"/>
                </a:solidFill>
              </a:defRPr>
            </a:pPr>
            <a:r>
              <a:t>长江3D科学计算中心算力极其强大，但科研人员离开工位就无法掌握任务队列、监控收敛日志，出现排队报错无法第一时间响应。</a:t>
            </a:r>
          </a:p>
        </p:txBody>
      </p:sp>
      <p:sp>
        <p:nvSpPr>
          <p:cNvPr id="7" name="Rounded Rectangle 6"/>
          <p:cNvSpPr/>
          <p:nvPr/>
        </p:nvSpPr>
        <p:spPr>
          <a:xfrm>
            <a:off x="8028432" y="1508760"/>
            <a:ext cx="3429000" cy="3291840"/>
          </a:xfrm>
          <a:prstGeom prst="roundRect">
            <a:avLst/>
          </a:prstGeom>
          <a:solidFill>
            <a:srgbClr val="131F3A"/>
          </a:solidFill>
          <a:ln w="12700">
            <a:solidFill>
              <a:srgbClr val="26385E"/>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74320"/>
          <a:lstStyle/>
          <a:p>
            <a:pPr algn="ctr">
              <a:defRPr sz="1100" b="1">
                <a:solidFill>
                  <a:srgbClr val="FBBF24"/>
                </a:solidFill>
              </a:defRPr>
            </a:pPr>
            <a:r>
              <a:t>安全断层</a:t>
            </a:r>
          </a:p>
          <a:p>
            <a:pPr>
              <a:spcBef>
                <a:spcPts val="800"/>
              </a:spcBef>
              <a:defRPr sz="1500" b="1">
                <a:solidFill>
                  <a:srgbClr val="F8FAFC"/>
                </a:solidFill>
              </a:defRPr>
            </a:pPr>
            <a:r>
              <a:t>痛点三：涉密数据与弱网外业困境</a:t>
            </a:r>
          </a:p>
          <a:p>
            <a:pPr>
              <a:spcBef>
                <a:spcPts val="1200"/>
              </a:spcBef>
              <a:defRPr sz="1200">
                <a:solidFill>
                  <a:srgbClr val="CBD5E1"/>
                </a:solidFill>
              </a:defRPr>
            </a:pPr>
            <a:r>
              <a:t>核心候选药物与菌株序列涉及重大利益，严禁上传公网商业模型；野外中药科考弱网无网环境下，依赖云端运算的系统彻底瘫痪。</a:t>
            </a:r>
          </a:p>
        </p:txBody>
      </p:sp>
      <p:sp>
        <p:nvSpPr>
          <p:cNvPr id="8" name="Rounded Rectangle 7"/>
          <p:cNvSpPr/>
          <p:nvPr/>
        </p:nvSpPr>
        <p:spPr>
          <a:xfrm>
            <a:off x="731520" y="4983480"/>
            <a:ext cx="10728655" cy="1051560"/>
          </a:xfrm>
          <a:prstGeom prst="roundRect">
            <a:avLst/>
          </a:prstGeom>
          <a:solidFill>
            <a:srgbClr val="142832"/>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274320" tIns="182880"/>
          <a:lstStyle/>
          <a:p>
            <a:pPr algn="ctr">
              <a:defRPr sz="1350" b="1">
                <a:solidFill>
                  <a:srgbClr val="34D399"/>
                </a:solidFill>
              </a:defRPr>
            </a:pPr>
            <a:r>
              <a:t>破局解法：BioHelix 深度契合大赛赛道（三）—— 构建端-超协同的生命科学计算基础设施</a:t>
            </a:r>
          </a:p>
          <a:p>
            <a:pPr>
              <a:spcBef>
                <a:spcPts val="400"/>
              </a:spcBef>
              <a:defRPr sz="1150">
                <a:solidFill>
                  <a:srgbClr val="CBD5E1"/>
                </a:solidFill>
              </a:defRPr>
            </a:pPr>
            <a:r>
              <a:t>打通从“移动端微观实验数据清洗”到“长江3D科学计算中心宏观算力仿真”的最后一公里，将超级算力直达实验第一线！</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326"/>
        </a:solidFill>
        <a:effectLst/>
      </p:bgPr>
    </p:bg>
    <p:spTree>
      <p:nvGrpSpPr>
        <p:cNvPr id="1" name=""/>
        <p:cNvGrpSpPr/>
        <p:nvPr/>
      </p:nvGrpSpPr>
      <p:grpSpPr/>
      <p:sp>
        <p:nvSpPr>
          <p:cNvPr id="2" name="TextBox 1"/>
          <p:cNvSpPr txBox="1"/>
          <p:nvPr/>
        </p:nvSpPr>
        <p:spPr>
          <a:xfrm>
            <a:off x="731520" y="457200"/>
            <a:ext cx="10698480" cy="365760"/>
          </a:xfrm>
          <a:prstGeom prst="rect">
            <a:avLst/>
          </a:prstGeom>
          <a:noFill/>
        </p:spPr>
        <p:txBody>
          <a:bodyPr wrap="square" lIns="0" tIns="0" rIns="0" bIns="0">
            <a:spAutoFit/>
          </a:bodyPr>
          <a:lstStyle/>
          <a:p>
            <a:pPr>
              <a:defRPr sz="1100" b="1">
                <a:solidFill>
                  <a:srgbClr val="34D399"/>
                </a:solidFill>
              </a:defRPr>
            </a:pPr>
            <a:r>
              <a:t>SOLUTION</a:t>
            </a:r>
          </a:p>
        </p:txBody>
      </p:sp>
      <p:sp>
        <p:nvSpPr>
          <p:cNvPr id="3" name="TextBox 2"/>
          <p:cNvSpPr txBox="1"/>
          <p:nvPr/>
        </p:nvSpPr>
        <p:spPr>
          <a:xfrm>
            <a:off x="731520" y="777240"/>
            <a:ext cx="10698480" cy="640080"/>
          </a:xfrm>
          <a:prstGeom prst="rect">
            <a:avLst/>
          </a:prstGeom>
          <a:noFill/>
        </p:spPr>
        <p:txBody>
          <a:bodyPr wrap="square" lIns="0" tIns="0" rIns="0" bIns="0">
            <a:spAutoFit/>
          </a:bodyPr>
          <a:lstStyle/>
          <a:p>
            <a:pPr>
              <a:defRPr sz="2200" b="1">
                <a:solidFill>
                  <a:srgbClr val="F8FAFC"/>
                </a:solidFill>
              </a:defRPr>
            </a:pPr>
            <a:r>
              <a:t>产品方案：BioHelix —— 长江3D科学计算中心的掌上智能调度中枢</a:t>
            </a:r>
          </a:p>
        </p:txBody>
      </p:sp>
      <p:sp>
        <p:nvSpPr>
          <p:cNvPr id="4" name="TextBox 3"/>
          <p:cNvSpPr txBox="1"/>
          <p:nvPr/>
        </p:nvSpPr>
        <p:spPr>
          <a:xfrm>
            <a:off x="731520" y="6309360"/>
            <a:ext cx="10698480" cy="365760"/>
          </a:xfrm>
          <a:prstGeom prst="rect">
            <a:avLst/>
          </a:prstGeom>
          <a:noFill/>
        </p:spPr>
        <p:txBody>
          <a:bodyPr wrap="none" lIns="0" tIns="0" rIns="0" bIns="0">
            <a:spAutoFit/>
          </a:bodyPr>
          <a:lstStyle/>
          <a:p>
            <a:pPr>
              <a:defRPr sz="1000">
                <a:solidFill>
                  <a:srgbClr val="94A3B8"/>
                </a:solidFill>
              </a:defRPr>
            </a:pPr>
            <a:r>
              <a:t>BioHelix · 依托长江3D科学计算中心生命科技专项路演  |  Confidential  |  4 / 11</a:t>
            </a:r>
          </a:p>
        </p:txBody>
      </p:sp>
      <p:sp>
        <p:nvSpPr>
          <p:cNvPr id="5" name="Rounded Rectangle 4"/>
          <p:cNvSpPr/>
          <p:nvPr/>
        </p:nvSpPr>
        <p:spPr>
          <a:xfrm>
            <a:off x="731520" y="1508760"/>
            <a:ext cx="5257800" cy="2057400"/>
          </a:xfrm>
          <a:prstGeom prst="roundRect">
            <a:avLst/>
          </a:prstGeom>
          <a:solidFill>
            <a:srgbClr val="131F3A"/>
          </a:solidFill>
          <a:ln w="12700">
            <a:solidFill>
              <a:srgbClr val="26385E"/>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a:lstStyle/>
          <a:p>
            <a:pPr algn="ctr">
              <a:defRPr sz="1600" b="1">
                <a:solidFill>
                  <a:srgbClr val="34D399"/>
                </a:solidFill>
              </a:defRPr>
            </a:pPr>
            <a:r>
              <a:t>01 移动端微观数据本地闭环</a:t>
            </a:r>
          </a:p>
          <a:p>
            <a:pPr>
              <a:spcBef>
                <a:spcPts val="1000"/>
              </a:spcBef>
              <a:defRPr sz="1200">
                <a:solidFill>
                  <a:srgbClr val="CBD5E1"/>
                </a:solidFill>
              </a:defRPr>
            </a:pPr>
            <a:r>
              <a:t>支持 SAF 与本地存储授权，内置 Biopython/RDKit，可在手机端就地解析 PDB、FASTA、SDF 结构，进行格式校验、拓扑属性计算与实验日志原子化记录。</a:t>
            </a:r>
          </a:p>
        </p:txBody>
      </p:sp>
      <p:sp>
        <p:nvSpPr>
          <p:cNvPr id="6" name="Rounded Rectangle 5"/>
          <p:cNvSpPr/>
          <p:nvPr/>
        </p:nvSpPr>
        <p:spPr>
          <a:xfrm>
            <a:off x="6172200" y="1508760"/>
            <a:ext cx="5257800" cy="2057400"/>
          </a:xfrm>
          <a:prstGeom prst="roundRect">
            <a:avLst/>
          </a:prstGeom>
          <a:solidFill>
            <a:srgbClr val="131F3A"/>
          </a:solidFill>
          <a:ln w="12700">
            <a:solidFill>
              <a:srgbClr val="26385E"/>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a:lstStyle/>
          <a:p>
            <a:pPr algn="ctr">
              <a:defRPr sz="1600" b="1">
                <a:solidFill>
                  <a:srgbClr val="34D399"/>
                </a:solidFill>
              </a:defRPr>
            </a:pPr>
            <a:r>
              <a:t>02 长江3D科算中心一键调度</a:t>
            </a:r>
          </a:p>
          <a:p>
            <a:pPr>
              <a:spcBef>
                <a:spcPts val="1000"/>
              </a:spcBef>
              <a:defRPr sz="1200">
                <a:solidFill>
                  <a:srgbClr val="CBD5E1"/>
                </a:solidFill>
              </a:defRPr>
            </a:pPr>
            <a:r>
              <a:t>自研 Tool Dispatcher 内置 HPC 适配器。科学家用自然语言即可一键下发分子对接、分子动力学模拟或酶催化推演，自动编译作业脚本提交集群。</a:t>
            </a:r>
          </a:p>
        </p:txBody>
      </p:sp>
      <p:sp>
        <p:nvSpPr>
          <p:cNvPr id="7" name="Rounded Rectangle 6"/>
          <p:cNvSpPr/>
          <p:nvPr/>
        </p:nvSpPr>
        <p:spPr>
          <a:xfrm>
            <a:off x="731520" y="3749040"/>
            <a:ext cx="5257800" cy="2057400"/>
          </a:xfrm>
          <a:prstGeom prst="roundRect">
            <a:avLst/>
          </a:prstGeom>
          <a:solidFill>
            <a:srgbClr val="131F3A"/>
          </a:solidFill>
          <a:ln w="12700">
            <a:solidFill>
              <a:srgbClr val="26385E"/>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a:lstStyle/>
          <a:p>
            <a:pPr algn="ctr">
              <a:defRPr sz="1600" b="1">
                <a:solidFill>
                  <a:srgbClr val="34D399"/>
                </a:solidFill>
              </a:defRPr>
            </a:pPr>
            <a:r>
              <a:t>03 实时流式终端与长任务对账</a:t>
            </a:r>
          </a:p>
          <a:p>
            <a:pPr>
              <a:spcBef>
                <a:spcPts val="1000"/>
              </a:spcBef>
              <a:defRPr sz="1200">
                <a:solidFill>
                  <a:srgbClr val="CBD5E1"/>
                </a:solidFill>
              </a:defRPr>
            </a:pPr>
            <a:r>
              <a:t>长任务计算过程通过 PTY 终端流式回传手机，实时查看能量最小化、RMSD 收敛曲线；断网或杀进程后支持 Room 状态自动对账，绝不盲目重放。</a:t>
            </a:r>
          </a:p>
        </p:txBody>
      </p:sp>
      <p:sp>
        <p:nvSpPr>
          <p:cNvPr id="8" name="Rounded Rectangle 7"/>
          <p:cNvSpPr/>
          <p:nvPr/>
        </p:nvSpPr>
        <p:spPr>
          <a:xfrm>
            <a:off x="6172200" y="3749040"/>
            <a:ext cx="5257800" cy="2057400"/>
          </a:xfrm>
          <a:prstGeom prst="roundRect">
            <a:avLst/>
          </a:prstGeom>
          <a:solidFill>
            <a:srgbClr val="131F3A"/>
          </a:solidFill>
          <a:ln w="12700">
            <a:solidFill>
              <a:srgbClr val="26385E"/>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a:lstStyle/>
          <a:p>
            <a:pPr algn="ctr">
              <a:defRPr sz="1600" b="1">
                <a:solidFill>
                  <a:srgbClr val="34D399"/>
                </a:solidFill>
              </a:defRPr>
            </a:pPr>
            <a:r>
              <a:t>04 涉密新药数据 100% 物理隔离</a:t>
            </a:r>
          </a:p>
          <a:p>
            <a:pPr>
              <a:spcBef>
                <a:spcPts val="1000"/>
              </a:spcBef>
              <a:defRPr sz="1200">
                <a:solidFill>
                  <a:srgbClr val="CBD5E1"/>
                </a:solidFill>
              </a:defRPr>
            </a:pPr>
            <a:r>
              <a:t>轻量规则进 QuickJS isolated 沙箱，重度编译进 PRoot 容器，核心实验资产不出端；支持直连局域网私有大模型与专属计算集群。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326"/>
        </a:solidFill>
        <a:effectLst/>
      </p:bgPr>
    </p:bg>
    <p:spTree>
      <p:nvGrpSpPr>
        <p:cNvPr id="1" name=""/>
        <p:cNvGrpSpPr/>
        <p:nvPr/>
      </p:nvGrpSpPr>
      <p:grpSpPr/>
      <p:sp>
        <p:nvSpPr>
          <p:cNvPr id="2" name="TextBox 1"/>
          <p:cNvSpPr txBox="1"/>
          <p:nvPr/>
        </p:nvSpPr>
        <p:spPr>
          <a:xfrm>
            <a:off x="731520" y="457200"/>
            <a:ext cx="10698480" cy="365760"/>
          </a:xfrm>
          <a:prstGeom prst="rect">
            <a:avLst/>
          </a:prstGeom>
          <a:noFill/>
        </p:spPr>
        <p:txBody>
          <a:bodyPr wrap="square" lIns="0" tIns="0" rIns="0" bIns="0">
            <a:spAutoFit/>
          </a:bodyPr>
          <a:lstStyle/>
          <a:p>
            <a:pPr>
              <a:defRPr sz="1100" b="1">
                <a:solidFill>
                  <a:srgbClr val="34D399"/>
                </a:solidFill>
              </a:defRPr>
            </a:pPr>
            <a:r>
              <a:t>TECHNOLOGY ARCHITECTURE</a:t>
            </a:r>
          </a:p>
        </p:txBody>
      </p:sp>
      <p:sp>
        <p:nvSpPr>
          <p:cNvPr id="3" name="TextBox 2"/>
          <p:cNvSpPr txBox="1"/>
          <p:nvPr/>
        </p:nvSpPr>
        <p:spPr>
          <a:xfrm>
            <a:off x="731520" y="777240"/>
            <a:ext cx="10698480" cy="640080"/>
          </a:xfrm>
          <a:prstGeom prst="rect">
            <a:avLst/>
          </a:prstGeom>
          <a:noFill/>
        </p:spPr>
        <p:txBody>
          <a:bodyPr wrap="square" lIns="0" tIns="0" rIns="0" bIns="0">
            <a:spAutoFit/>
          </a:bodyPr>
          <a:lstStyle/>
          <a:p>
            <a:pPr>
              <a:defRPr sz="2200" b="1">
                <a:solidFill>
                  <a:srgbClr val="F8FAFC"/>
                </a:solidFill>
              </a:defRPr>
            </a:pPr>
            <a:r>
              <a:t>技术架构：端-超协同、物理隔离沙箱与高可靠生信调度</a:t>
            </a:r>
          </a:p>
        </p:txBody>
      </p:sp>
      <p:sp>
        <p:nvSpPr>
          <p:cNvPr id="4" name="TextBox 3"/>
          <p:cNvSpPr txBox="1"/>
          <p:nvPr/>
        </p:nvSpPr>
        <p:spPr>
          <a:xfrm>
            <a:off x="731520" y="6309360"/>
            <a:ext cx="10698480" cy="365760"/>
          </a:xfrm>
          <a:prstGeom prst="rect">
            <a:avLst/>
          </a:prstGeom>
          <a:noFill/>
        </p:spPr>
        <p:txBody>
          <a:bodyPr wrap="none" lIns="0" tIns="0" rIns="0" bIns="0">
            <a:spAutoFit/>
          </a:bodyPr>
          <a:lstStyle/>
          <a:p>
            <a:pPr>
              <a:defRPr sz="1000">
                <a:solidFill>
                  <a:srgbClr val="94A3B8"/>
                </a:solidFill>
              </a:defRPr>
            </a:pPr>
            <a:r>
              <a:t>BioHelix · 依托长江3D科学计算中心生命科技专项路演  |  Confidential  |  5 / 11</a:t>
            </a:r>
          </a:p>
        </p:txBody>
      </p:sp>
      <p:sp>
        <p:nvSpPr>
          <p:cNvPr id="5" name="Rounded Rectangle 4"/>
          <p:cNvSpPr/>
          <p:nvPr/>
        </p:nvSpPr>
        <p:spPr>
          <a:xfrm>
            <a:off x="731520" y="1508760"/>
            <a:ext cx="5257800" cy="4480560"/>
          </a:xfrm>
          <a:prstGeom prst="roundRect">
            <a:avLst/>
          </a:prstGeom>
          <a:solidFill>
            <a:srgbClr val="131F3A"/>
          </a:solidFill>
          <a:ln w="12700">
            <a:solidFill>
              <a:srgbClr val="26385E"/>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sz="1600" b="1">
                <a:solidFill>
                  <a:srgbClr val="34D399"/>
                </a:solidFill>
              </a:defRPr>
            </a:pPr>
            <a:r>
              <a:t>端-超协同系统架构分层</a:t>
            </a:r>
          </a:p>
          <a:p>
            <a:pPr>
              <a:spcBef>
                <a:spcPts val="800"/>
              </a:spcBef>
              <a:defRPr sz="1200" b="1">
                <a:solidFill>
                  <a:srgbClr val="F8FAFC"/>
                </a:solidFill>
              </a:defRPr>
            </a:pPr>
            <a:r>
              <a:t>●  移动交互层 (Touch UI)</a:t>
            </a:r>
          </a:p>
          <a:p>
            <a:pPr>
              <a:defRPr sz="1050">
                <a:solidFill>
                  <a:srgbClr val="94A3B8"/>
                </a:solidFill>
              </a:defRPr>
            </a:pPr>
            <a:r>
              <a:t>    面向生信实验优化，支持 3D 分子轻量预览、Diff 比对、实时 Pty 输出</a:t>
            </a:r>
          </a:p>
          <a:p>
            <a:pPr>
              <a:spcBef>
                <a:spcPts val="800"/>
              </a:spcBef>
              <a:defRPr sz="1200" b="1">
                <a:solidFill>
                  <a:srgbClr val="F8FAFC"/>
                </a:solidFill>
              </a:defRPr>
            </a:pPr>
            <a:r>
              <a:t>●  协同中枢 (Coordinator)</a:t>
            </a:r>
          </a:p>
          <a:p>
            <a:pPr>
              <a:defRPr sz="1050">
                <a:solidFill>
                  <a:srgbClr val="94A3B8"/>
                </a:solidFill>
              </a:defRPr>
            </a:pPr>
            <a:r>
              <a:t>    任务意图解析、多模态附件还原、生信上下文组装与作业生命周期管理</a:t>
            </a:r>
          </a:p>
          <a:p>
            <a:pPr>
              <a:spcBef>
                <a:spcPts val="800"/>
              </a:spcBef>
              <a:defRPr sz="1200" b="1">
                <a:solidFill>
                  <a:srgbClr val="F8FAFC"/>
                </a:solidFill>
              </a:defRPr>
            </a:pPr>
            <a:r>
              <a:t>●  调度管线 (Dispatcher)</a:t>
            </a:r>
          </a:p>
          <a:p>
            <a:pPr>
              <a:defRPr sz="1050">
                <a:solidFill>
                  <a:srgbClr val="94A3B8"/>
                </a:solidFill>
              </a:defRPr>
            </a:pPr>
            <a:r>
              <a:t>    Schema 校验 -&gt; 生信权限门禁 -&gt; 策略评估 -&gt; 超算 HPC 适配下发</a:t>
            </a:r>
          </a:p>
          <a:p>
            <a:pPr>
              <a:spcBef>
                <a:spcPts val="800"/>
              </a:spcBef>
              <a:defRPr sz="1200" b="1">
                <a:solidFill>
                  <a:srgbClr val="F8FAFC"/>
                </a:solidFill>
              </a:defRPr>
            </a:pPr>
            <a:r>
              <a:t>●  端侧隔离域 (Edge Runtimes)</a:t>
            </a:r>
          </a:p>
          <a:p>
            <a:pPr>
              <a:defRPr sz="1050">
                <a:solidFill>
                  <a:srgbClr val="94A3B8"/>
                </a:solidFill>
              </a:defRPr>
            </a:pPr>
            <a:r>
              <a:t>    QuickJS 独立 UID 沙箱 (微规则) + PRoot 容器化 Linux (Biopython/RDKit)</a:t>
            </a:r>
          </a:p>
          <a:p>
            <a:pPr>
              <a:spcBef>
                <a:spcPts val="800"/>
              </a:spcBef>
              <a:defRPr sz="1200" b="1">
                <a:solidFill>
                  <a:srgbClr val="F8FAFC"/>
                </a:solidFill>
              </a:defRPr>
            </a:pPr>
            <a:r>
              <a:t>●  超算集群 (Changjiang 3D HPC)</a:t>
            </a:r>
          </a:p>
          <a:p>
            <a:pPr>
              <a:defRPr sz="1050">
                <a:solidFill>
                  <a:srgbClr val="94A3B8"/>
                </a:solidFill>
              </a:defRPr>
            </a:pPr>
            <a:r>
              <a:t>    对接长江3D科学计算中心，承载万核级分子对接、动力学模拟与大模型</a:t>
            </a:r>
          </a:p>
        </p:txBody>
      </p:sp>
      <p:sp>
        <p:nvSpPr>
          <p:cNvPr id="6" name="Rounded Rectangle 5"/>
          <p:cNvSpPr/>
          <p:nvPr/>
        </p:nvSpPr>
        <p:spPr>
          <a:xfrm>
            <a:off x="6217920" y="1508760"/>
            <a:ext cx="5242255" cy="4480560"/>
          </a:xfrm>
          <a:prstGeom prst="roundRect">
            <a:avLst/>
          </a:prstGeom>
          <a:solidFill>
            <a:srgbClr val="131F3A"/>
          </a:solidFill>
          <a:ln w="12700">
            <a:solidFill>
              <a:srgbClr val="26385E"/>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sz="1600" b="1">
                <a:solidFill>
                  <a:srgbClr val="38BDF8"/>
                </a:solidFill>
              </a:defRPr>
            </a:pPr>
            <a:r>
              <a:t>生信场景核心技术壁垒</a:t>
            </a:r>
          </a:p>
          <a:p>
            <a:pPr>
              <a:spcBef>
                <a:spcPts val="1400"/>
              </a:spcBef>
              <a:defRPr sz="1300" b="1">
                <a:solidFill>
                  <a:srgbClr val="38BDF8"/>
                </a:solidFill>
              </a:defRPr>
            </a:pPr>
            <a:r>
              <a:t>★  免 Root 容器化生信环境移植</a:t>
            </a:r>
          </a:p>
          <a:p>
            <a:pPr>
              <a:spcBef>
                <a:spcPts val="400"/>
              </a:spcBef>
              <a:defRPr sz="1100">
                <a:solidFill>
                  <a:srgbClr val="CBD5E1"/>
                </a:solidFill>
              </a:defRPr>
            </a:pPr>
            <a:r>
              <a:t>攻克 Android 系统底层限制，在普通商用手机上免 Root 稳定运行 Linux 生信运行时与 C++ 化学信息学动态库。</a:t>
            </a:r>
          </a:p>
          <a:p>
            <a:pPr>
              <a:spcBef>
                <a:spcPts val="1400"/>
              </a:spcBef>
              <a:defRPr sz="1300" b="1">
                <a:solidFill>
                  <a:srgbClr val="38BDF8"/>
                </a:solidFill>
              </a:defRPr>
            </a:pPr>
            <a:r>
              <a:t>★  长江3D科算中心流式调度协议</a:t>
            </a:r>
          </a:p>
          <a:p>
            <a:pPr>
              <a:spcBef>
                <a:spcPts val="400"/>
              </a:spcBef>
              <a:defRPr sz="1100">
                <a:solidFill>
                  <a:srgbClr val="CBD5E1"/>
                </a:solidFill>
              </a:defRPr>
            </a:pPr>
            <a:r>
              <a:t>创新设计端-超轻量安全代理协议，毫秒级下发 Slurm/PBS 作业脚本，并通过 PFD/Binder 安全通道回传监控流。</a:t>
            </a:r>
          </a:p>
          <a:p>
            <a:pPr>
              <a:spcBef>
                <a:spcPts val="1400"/>
              </a:spcBef>
              <a:defRPr sz="1300" b="1">
                <a:solidFill>
                  <a:srgbClr val="38BDF8"/>
                </a:solidFill>
              </a:defRPr>
            </a:pPr>
            <a:r>
              <a:t>★  涉密级防泄漏与确定性审计</a:t>
            </a:r>
          </a:p>
          <a:p>
            <a:pPr>
              <a:spcBef>
                <a:spcPts val="400"/>
              </a:spcBef>
              <a:defRPr sz="1100">
                <a:solidFill>
                  <a:srgbClr val="CBD5E1"/>
                </a:solidFill>
              </a:defRPr>
            </a:pPr>
            <a:r>
              <a:t>杜绝任何模型幻觉引发的数据误篡改，所有文件变动支持原子级 Trash 恢复与 Room 数据库全周期合规审计。</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326"/>
        </a:solidFill>
        <a:effectLst/>
      </p:bgPr>
    </p:bg>
    <p:spTree>
      <p:nvGrpSpPr>
        <p:cNvPr id="1" name=""/>
        <p:cNvGrpSpPr/>
        <p:nvPr/>
      </p:nvGrpSpPr>
      <p:grpSpPr/>
      <p:sp>
        <p:nvSpPr>
          <p:cNvPr id="2" name="TextBox 1"/>
          <p:cNvSpPr txBox="1"/>
          <p:nvPr/>
        </p:nvSpPr>
        <p:spPr>
          <a:xfrm>
            <a:off x="731520" y="457200"/>
            <a:ext cx="10698480" cy="365760"/>
          </a:xfrm>
          <a:prstGeom prst="rect">
            <a:avLst/>
          </a:prstGeom>
          <a:noFill/>
        </p:spPr>
        <p:txBody>
          <a:bodyPr wrap="square" lIns="0" tIns="0" rIns="0" bIns="0">
            <a:spAutoFit/>
          </a:bodyPr>
          <a:lstStyle/>
          <a:p>
            <a:pPr>
              <a:defRPr sz="1100" b="1">
                <a:solidFill>
                  <a:srgbClr val="34D399"/>
                </a:solidFill>
              </a:defRPr>
            </a:pPr>
            <a:r>
              <a:t>SCIENTIFIC APPLICATIONS</a:t>
            </a:r>
          </a:p>
        </p:txBody>
      </p:sp>
      <p:sp>
        <p:nvSpPr>
          <p:cNvPr id="3" name="TextBox 2"/>
          <p:cNvSpPr txBox="1"/>
          <p:nvPr/>
        </p:nvSpPr>
        <p:spPr>
          <a:xfrm>
            <a:off x="731520" y="777240"/>
            <a:ext cx="10698480" cy="640080"/>
          </a:xfrm>
          <a:prstGeom prst="rect">
            <a:avLst/>
          </a:prstGeom>
          <a:noFill/>
        </p:spPr>
        <p:txBody>
          <a:bodyPr wrap="square" lIns="0" tIns="0" rIns="0" bIns="0">
            <a:spAutoFit/>
          </a:bodyPr>
          <a:lstStyle/>
          <a:p>
            <a:pPr>
              <a:defRPr sz="2200" b="1">
                <a:solidFill>
                  <a:srgbClr val="F8FAFC"/>
                </a:solidFill>
              </a:defRPr>
            </a:pPr>
            <a:r>
              <a:t>科算应用：全方位赋能新药研发、合成生物与中药产业</a:t>
            </a:r>
          </a:p>
        </p:txBody>
      </p:sp>
      <p:sp>
        <p:nvSpPr>
          <p:cNvPr id="4" name="TextBox 3"/>
          <p:cNvSpPr txBox="1"/>
          <p:nvPr/>
        </p:nvSpPr>
        <p:spPr>
          <a:xfrm>
            <a:off x="731520" y="6309360"/>
            <a:ext cx="10698480" cy="365760"/>
          </a:xfrm>
          <a:prstGeom prst="rect">
            <a:avLst/>
          </a:prstGeom>
          <a:noFill/>
        </p:spPr>
        <p:txBody>
          <a:bodyPr wrap="none" lIns="0" tIns="0" rIns="0" bIns="0">
            <a:spAutoFit/>
          </a:bodyPr>
          <a:lstStyle/>
          <a:p>
            <a:pPr>
              <a:defRPr sz="1000">
                <a:solidFill>
                  <a:srgbClr val="94A3B8"/>
                </a:solidFill>
              </a:defRPr>
            </a:pPr>
            <a:r>
              <a:t>BioHelix · 依托长江3D科学计算中心生命科技专项路演  |  Confidential  |  6 / 11</a:t>
            </a:r>
          </a:p>
        </p:txBody>
      </p:sp>
      <p:sp>
        <p:nvSpPr>
          <p:cNvPr id="5" name="Rounded Rectangle 4"/>
          <p:cNvSpPr/>
          <p:nvPr/>
        </p:nvSpPr>
        <p:spPr>
          <a:xfrm>
            <a:off x="731520" y="1508760"/>
            <a:ext cx="5257800" cy="2057400"/>
          </a:xfrm>
          <a:prstGeom prst="roundRect">
            <a:avLst/>
          </a:prstGeom>
          <a:solidFill>
            <a:srgbClr val="131F3A"/>
          </a:solidFill>
          <a:ln w="12700">
            <a:solidFill>
              <a:srgbClr val="26385E"/>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a:lstStyle/>
          <a:p>
            <a:pPr algn="ctr">
              <a:defRPr sz="1500" b="1">
                <a:solidFill>
                  <a:srgbClr val="FBBF24"/>
                </a:solidFill>
              </a:defRPr>
            </a:pPr>
            <a:r>
              <a:t>场景一：创新药物与中药野外科考</a:t>
            </a:r>
          </a:p>
          <a:p>
            <a:pPr>
              <a:spcBef>
                <a:spcPts val="200"/>
              </a:spcBef>
              <a:defRPr sz="1100">
                <a:solidFill>
                  <a:srgbClr val="34D399"/>
                </a:solidFill>
              </a:defRPr>
            </a:pPr>
            <a:r>
              <a:t>对接赛道：领域一：新药/中药</a:t>
            </a:r>
          </a:p>
          <a:p>
            <a:pPr>
              <a:spcBef>
                <a:spcPts val="600"/>
              </a:spcBef>
              <a:defRPr sz="1100">
                <a:solidFill>
                  <a:srgbClr val="CBD5E1"/>
                </a:solidFill>
              </a:defRPr>
            </a:pPr>
            <a:r>
              <a:t>野外道地药材与植物采样无网环境下，手机离线识别物种并进行图谱初筛；联网后一键向长江3D科算中心提交靶点对接，反向推演活性成分。</a:t>
            </a:r>
          </a:p>
        </p:txBody>
      </p:sp>
      <p:sp>
        <p:nvSpPr>
          <p:cNvPr id="6" name="Rounded Rectangle 5"/>
          <p:cNvSpPr/>
          <p:nvPr/>
        </p:nvSpPr>
        <p:spPr>
          <a:xfrm>
            <a:off x="6172200" y="1508760"/>
            <a:ext cx="5257800" cy="2057400"/>
          </a:xfrm>
          <a:prstGeom prst="roundRect">
            <a:avLst/>
          </a:prstGeom>
          <a:solidFill>
            <a:srgbClr val="131F3A"/>
          </a:solidFill>
          <a:ln w="12700">
            <a:solidFill>
              <a:srgbClr val="26385E"/>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a:lstStyle/>
          <a:p>
            <a:pPr algn="ctr">
              <a:defRPr sz="1500" b="1">
                <a:solidFill>
                  <a:srgbClr val="FBBF24"/>
                </a:solidFill>
              </a:defRPr>
            </a:pPr>
            <a:r>
              <a:t>场景二：孝感合成生物基地中试巡检</a:t>
            </a:r>
          </a:p>
          <a:p>
            <a:pPr>
              <a:spcBef>
                <a:spcPts val="200"/>
              </a:spcBef>
              <a:defRPr sz="1100">
                <a:solidFill>
                  <a:srgbClr val="34D399"/>
                </a:solidFill>
              </a:defRPr>
            </a:pPr>
            <a:r>
              <a:t>对接赛道：领域二：生物制造</a:t>
            </a:r>
          </a:p>
          <a:p>
            <a:pPr>
              <a:spcBef>
                <a:spcPts val="600"/>
              </a:spcBef>
              <a:defRPr sz="1100">
                <a:solidFill>
                  <a:srgbClr val="CBD5E1"/>
                </a:solidFill>
              </a:defRPr>
            </a:pPr>
            <a:r>
              <a:t>在孝感中试车间，巡检人员手持终端读取发酵罐传感器数据，本地评估溶氧与pH；调用3D科算中心酶动力学模型秒级推演补料调控方案。</a:t>
            </a:r>
          </a:p>
        </p:txBody>
      </p:sp>
      <p:sp>
        <p:nvSpPr>
          <p:cNvPr id="7" name="Rounded Rectangle 6"/>
          <p:cNvSpPr/>
          <p:nvPr/>
        </p:nvSpPr>
        <p:spPr>
          <a:xfrm>
            <a:off x="731520" y="3749040"/>
            <a:ext cx="5257800" cy="2057400"/>
          </a:xfrm>
          <a:prstGeom prst="roundRect">
            <a:avLst/>
          </a:prstGeom>
          <a:solidFill>
            <a:srgbClr val="131F3A"/>
          </a:solidFill>
          <a:ln w="12700">
            <a:solidFill>
              <a:srgbClr val="26385E"/>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a:lstStyle/>
          <a:p>
            <a:pPr algn="ctr">
              <a:defRPr sz="1500" b="1">
                <a:solidFill>
                  <a:srgbClr val="FBBF24"/>
                </a:solidFill>
              </a:defRPr>
            </a:pPr>
            <a:r>
              <a:t>场景三：端-超协同生命计算基础设施</a:t>
            </a:r>
          </a:p>
          <a:p>
            <a:pPr>
              <a:spcBef>
                <a:spcPts val="200"/>
              </a:spcBef>
              <a:defRPr sz="1100">
                <a:solidFill>
                  <a:srgbClr val="34D399"/>
                </a:solidFill>
              </a:defRPr>
            </a:pPr>
            <a:r>
              <a:t>对接赛道：领域三：主申报赛道</a:t>
            </a:r>
          </a:p>
          <a:p>
            <a:pPr>
              <a:spcBef>
                <a:spcPts val="600"/>
              </a:spcBef>
              <a:defRPr sz="1100">
                <a:solidFill>
                  <a:srgbClr val="CBD5E1"/>
                </a:solidFill>
              </a:defRPr>
            </a:pPr>
            <a:r>
              <a:t>为高校与药企打造新一代生信工作台，实验科学家在洁净室内随手唤醒超算集群，完成微观参数到宏观万核仿真的秒级闭环。</a:t>
            </a:r>
          </a:p>
        </p:txBody>
      </p:sp>
      <p:sp>
        <p:nvSpPr>
          <p:cNvPr id="8" name="Rounded Rectangle 7"/>
          <p:cNvSpPr/>
          <p:nvPr/>
        </p:nvSpPr>
        <p:spPr>
          <a:xfrm>
            <a:off x="6172200" y="3749040"/>
            <a:ext cx="5257800" cy="2057400"/>
          </a:xfrm>
          <a:prstGeom prst="roundRect">
            <a:avLst/>
          </a:prstGeom>
          <a:solidFill>
            <a:srgbClr val="131F3A"/>
          </a:solidFill>
          <a:ln w="12700">
            <a:solidFill>
              <a:srgbClr val="26385E"/>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a:lstStyle/>
          <a:p>
            <a:pPr algn="ctr">
              <a:defRPr sz="1500" b="1">
                <a:solidFill>
                  <a:srgbClr val="FBBF24"/>
                </a:solidFill>
              </a:defRPr>
            </a:pPr>
            <a:r>
              <a:t>场景四：智能医疗器械与精准医疗</a:t>
            </a:r>
          </a:p>
          <a:p>
            <a:pPr>
              <a:spcBef>
                <a:spcPts val="200"/>
              </a:spcBef>
              <a:defRPr sz="1100">
                <a:solidFill>
                  <a:srgbClr val="34D399"/>
                </a:solidFill>
              </a:defRPr>
            </a:pPr>
            <a:r>
              <a:t>对接赛道：领域四：智能器械</a:t>
            </a:r>
          </a:p>
          <a:p>
            <a:pPr>
              <a:spcBef>
                <a:spcPts val="600"/>
              </a:spcBef>
              <a:defRPr sz="1100">
                <a:solidFill>
                  <a:srgbClr val="CBD5E1"/>
                </a:solidFill>
              </a:defRPr>
            </a:pPr>
            <a:r>
              <a:t>对接便携床旁检验设备（POCT），移动端就地完成原始电生理/光谱信号降噪，联动3D科算中心大模型提供多模态精准辅助诊断。</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326"/>
        </a:solidFill>
        <a:effectLst/>
      </p:bgPr>
    </p:bg>
    <p:spTree>
      <p:nvGrpSpPr>
        <p:cNvPr id="1" name=""/>
        <p:cNvGrpSpPr/>
        <p:nvPr/>
      </p:nvGrpSpPr>
      <p:grpSpPr/>
      <p:sp>
        <p:nvSpPr>
          <p:cNvPr id="2" name="TextBox 1"/>
          <p:cNvSpPr txBox="1"/>
          <p:nvPr/>
        </p:nvSpPr>
        <p:spPr>
          <a:xfrm>
            <a:off x="731520" y="457200"/>
            <a:ext cx="10698480" cy="365760"/>
          </a:xfrm>
          <a:prstGeom prst="rect">
            <a:avLst/>
          </a:prstGeom>
          <a:noFill/>
        </p:spPr>
        <p:txBody>
          <a:bodyPr wrap="square" lIns="0" tIns="0" rIns="0" bIns="0">
            <a:spAutoFit/>
          </a:bodyPr>
          <a:lstStyle/>
          <a:p>
            <a:pPr>
              <a:defRPr sz="1100" b="1">
                <a:solidFill>
                  <a:srgbClr val="34D399"/>
                </a:solidFill>
              </a:defRPr>
            </a:pPr>
            <a:r>
              <a:t>BUSINESS MODEL</a:t>
            </a:r>
          </a:p>
        </p:txBody>
      </p:sp>
      <p:sp>
        <p:nvSpPr>
          <p:cNvPr id="3" name="TextBox 2"/>
          <p:cNvSpPr txBox="1"/>
          <p:nvPr/>
        </p:nvSpPr>
        <p:spPr>
          <a:xfrm>
            <a:off x="731520" y="777240"/>
            <a:ext cx="10698480" cy="640080"/>
          </a:xfrm>
          <a:prstGeom prst="rect">
            <a:avLst/>
          </a:prstGeom>
          <a:noFill/>
        </p:spPr>
        <p:txBody>
          <a:bodyPr wrap="square" lIns="0" tIns="0" rIns="0" bIns="0">
            <a:spAutoFit/>
          </a:bodyPr>
          <a:lstStyle/>
          <a:p>
            <a:pPr>
              <a:defRPr sz="2200" b="1">
                <a:solidFill>
                  <a:srgbClr val="F8FAFC"/>
                </a:solidFill>
              </a:defRPr>
            </a:pPr>
            <a:r>
              <a:t>商业模式：立足科研生态，服务药企研发与生物制造基地</a:t>
            </a:r>
          </a:p>
        </p:txBody>
      </p:sp>
      <p:sp>
        <p:nvSpPr>
          <p:cNvPr id="4" name="TextBox 3"/>
          <p:cNvSpPr txBox="1"/>
          <p:nvPr/>
        </p:nvSpPr>
        <p:spPr>
          <a:xfrm>
            <a:off x="731520" y="6309360"/>
            <a:ext cx="10698480" cy="365760"/>
          </a:xfrm>
          <a:prstGeom prst="rect">
            <a:avLst/>
          </a:prstGeom>
          <a:noFill/>
        </p:spPr>
        <p:txBody>
          <a:bodyPr wrap="none" lIns="0" tIns="0" rIns="0" bIns="0">
            <a:spAutoFit/>
          </a:bodyPr>
          <a:lstStyle/>
          <a:p>
            <a:pPr>
              <a:defRPr sz="1000">
                <a:solidFill>
                  <a:srgbClr val="94A3B8"/>
                </a:solidFill>
              </a:defRPr>
            </a:pPr>
            <a:r>
              <a:t>BioHelix · 依托长江3D科学计算中心生命科技专项路演  |  Confidential  |  7 / 11</a:t>
            </a:r>
          </a:p>
        </p:txBody>
      </p:sp>
      <p:sp>
        <p:nvSpPr>
          <p:cNvPr id="5" name="Rounded Rectangle 4"/>
          <p:cNvSpPr/>
          <p:nvPr/>
        </p:nvSpPr>
        <p:spPr>
          <a:xfrm>
            <a:off x="731520" y="1508760"/>
            <a:ext cx="3429000" cy="4480560"/>
          </a:xfrm>
          <a:prstGeom prst="roundRect">
            <a:avLst/>
          </a:prstGeom>
          <a:solidFill>
            <a:srgbClr val="131F3A"/>
          </a:solidFill>
          <a:ln w="12700">
            <a:solidFill>
              <a:srgbClr val="26385E"/>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74320"/>
          <a:lstStyle/>
          <a:p>
            <a:pPr algn="ctr">
              <a:defRPr sz="1650" b="1">
                <a:solidFill>
                  <a:srgbClr val="F8FAFC"/>
                </a:solidFill>
              </a:defRPr>
            </a:pPr>
            <a:r>
              <a:t>科研/高校免费版</a:t>
            </a:r>
          </a:p>
          <a:p>
            <a:pPr>
              <a:spcBef>
                <a:spcPts val="400"/>
              </a:spcBef>
              <a:defRPr sz="1100">
                <a:solidFill>
                  <a:srgbClr val="94A3B8"/>
                </a:solidFill>
              </a:defRPr>
            </a:pPr>
            <a:r>
              <a:t>构建学术生态与用户漏斗</a:t>
            </a:r>
          </a:p>
          <a:p>
            <a:pPr>
              <a:spcBef>
                <a:spcPts val="1200"/>
              </a:spcBef>
              <a:defRPr sz="1150">
                <a:solidFill>
                  <a:srgbClr val="CBD5E1"/>
                </a:solidFill>
              </a:defRPr>
            </a:pPr>
            <a:r>
              <a:t>✔  全功能生信文件管理与格式转换</a:t>
            </a:r>
          </a:p>
          <a:p>
            <a:pPr>
              <a:spcBef>
                <a:spcPts val="1200"/>
              </a:spcBef>
              <a:defRPr sz="1150">
                <a:solidFill>
                  <a:srgbClr val="CBD5E1"/>
                </a:solidFill>
              </a:defRPr>
            </a:pPr>
            <a:r>
              <a:t>✔  标准微量计算与本地离线沙箱</a:t>
            </a:r>
          </a:p>
          <a:p>
            <a:pPr>
              <a:spcBef>
                <a:spcPts val="1200"/>
              </a:spcBef>
              <a:defRPr sz="1150">
                <a:solidFill>
                  <a:srgbClr val="CBD5E1"/>
                </a:solidFill>
              </a:defRPr>
            </a:pPr>
            <a:r>
              <a:t>✔  基础科研工作流与文献提取模板</a:t>
            </a:r>
          </a:p>
          <a:p>
            <a:pPr>
              <a:spcBef>
                <a:spcPts val="1200"/>
              </a:spcBef>
              <a:defRPr sz="1150">
                <a:solidFill>
                  <a:srgbClr val="CBD5E1"/>
                </a:solidFill>
              </a:defRPr>
            </a:pPr>
            <a:r>
              <a:t>✔  渗透全国生物医药高校与课题组</a:t>
            </a:r>
          </a:p>
        </p:txBody>
      </p:sp>
      <p:sp>
        <p:nvSpPr>
          <p:cNvPr id="6" name="Rounded Rectangle 5"/>
          <p:cNvSpPr/>
          <p:nvPr/>
        </p:nvSpPr>
        <p:spPr>
          <a:xfrm>
            <a:off x="4379976" y="1508760"/>
            <a:ext cx="3429000" cy="4480560"/>
          </a:xfrm>
          <a:prstGeom prst="roundRect">
            <a:avLst/>
          </a:prstGeom>
          <a:solidFill>
            <a:srgbClr val="131F3A"/>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74320"/>
          <a:lstStyle/>
          <a:p>
            <a:pPr algn="ctr">
              <a:defRPr sz="1650" b="1">
                <a:solidFill>
                  <a:srgbClr val="34D399"/>
                </a:solidFill>
              </a:defRPr>
            </a:pPr>
            <a:r>
              <a:t>Pro 生信专业版</a:t>
            </a:r>
          </a:p>
          <a:p>
            <a:pPr>
              <a:spcBef>
                <a:spcPts val="400"/>
              </a:spcBef>
              <a:defRPr sz="1100">
                <a:solidFill>
                  <a:srgbClr val="94A3B8"/>
                </a:solidFill>
              </a:defRPr>
            </a:pPr>
            <a:r>
              <a:t>面向专业工程师与研究员</a:t>
            </a:r>
          </a:p>
          <a:p>
            <a:pPr>
              <a:spcBef>
                <a:spcPts val="1200"/>
              </a:spcBef>
              <a:defRPr sz="1150">
                <a:solidFill>
                  <a:srgbClr val="CBD5E1"/>
                </a:solidFill>
              </a:defRPr>
            </a:pPr>
            <a:r>
              <a:t>✔  PRoot 完整生信 Linux 容器持续自愈</a:t>
            </a:r>
          </a:p>
          <a:p>
            <a:pPr>
              <a:spcBef>
                <a:spcPts val="1200"/>
              </a:spcBef>
              <a:defRPr sz="1150">
                <a:solidFill>
                  <a:srgbClr val="CBD5E1"/>
                </a:solidFill>
              </a:defRPr>
            </a:pPr>
            <a:r>
              <a:t>✔  长江3D科算中心高速作业调度通道</a:t>
            </a:r>
          </a:p>
          <a:p>
            <a:pPr>
              <a:spcBef>
                <a:spcPts val="1200"/>
              </a:spcBef>
              <a:defRPr sz="1150">
                <a:solidFill>
                  <a:srgbClr val="CBD5E1"/>
                </a:solidFill>
              </a:defRPr>
            </a:pPr>
            <a:r>
              <a:t>✔  实时长任务终端 (PTY) 与无损恢复</a:t>
            </a:r>
          </a:p>
          <a:p>
            <a:pPr>
              <a:spcBef>
                <a:spcPts val="1200"/>
              </a:spcBef>
              <a:defRPr sz="1150">
                <a:solidFill>
                  <a:srgbClr val="CBD5E1"/>
                </a:solidFill>
              </a:defRPr>
            </a:pPr>
            <a:r>
              <a:t>✔  支持个人买断与年度维护订阅</a:t>
            </a:r>
          </a:p>
        </p:txBody>
      </p:sp>
      <p:sp>
        <p:nvSpPr>
          <p:cNvPr id="7" name="Rounded Rectangle 6"/>
          <p:cNvSpPr/>
          <p:nvPr/>
        </p:nvSpPr>
        <p:spPr>
          <a:xfrm>
            <a:off x="8028432" y="1508760"/>
            <a:ext cx="3429000" cy="4480560"/>
          </a:xfrm>
          <a:prstGeom prst="roundRect">
            <a:avLst/>
          </a:prstGeom>
          <a:solidFill>
            <a:srgbClr val="131F3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74320"/>
          <a:lstStyle/>
          <a:p>
            <a:pPr algn="ctr">
              <a:defRPr sz="1650" b="1">
                <a:solidFill>
                  <a:srgbClr val="38BDF8"/>
                </a:solidFill>
              </a:defRPr>
            </a:pPr>
            <a:r>
              <a:t>孝感基地与企业套件</a:t>
            </a:r>
          </a:p>
          <a:p>
            <a:pPr>
              <a:spcBef>
                <a:spcPts val="400"/>
              </a:spcBef>
              <a:defRPr sz="1100">
                <a:solidFill>
                  <a:srgbClr val="94A3B8"/>
                </a:solidFill>
              </a:defRPr>
            </a:pPr>
            <a:r>
              <a:t>面向基地中试车间与涉密药企</a:t>
            </a:r>
          </a:p>
          <a:p>
            <a:pPr>
              <a:spcBef>
                <a:spcPts val="1200"/>
              </a:spcBef>
              <a:defRPr sz="1150">
                <a:solidFill>
                  <a:srgbClr val="CBD5E1"/>
                </a:solidFill>
              </a:defRPr>
            </a:pPr>
            <a:r>
              <a:t>✔  孝感合成生物基地发酵巡检专属插件</a:t>
            </a:r>
          </a:p>
          <a:p>
            <a:pPr>
              <a:spcBef>
                <a:spcPts val="1200"/>
              </a:spcBef>
              <a:defRPr sz="1150">
                <a:solidFill>
                  <a:srgbClr val="CBD5E1"/>
                </a:solidFill>
              </a:defRPr>
            </a:pPr>
            <a:r>
              <a:t>✔  药企涉密局域网私有超算与大模型接入</a:t>
            </a:r>
          </a:p>
          <a:p>
            <a:pPr>
              <a:spcBef>
                <a:spcPts val="1200"/>
              </a:spcBef>
              <a:defRPr sz="1150">
                <a:solidFill>
                  <a:srgbClr val="CBD5E1"/>
                </a:solidFill>
              </a:defRPr>
            </a:pPr>
            <a:r>
              <a:t>✔  生物反应器工业协议与传感器直连</a:t>
            </a:r>
          </a:p>
          <a:p>
            <a:pPr>
              <a:spcBef>
                <a:spcPts val="1200"/>
              </a:spcBef>
              <a:defRPr sz="1150">
                <a:solidFill>
                  <a:srgbClr val="CBD5E1"/>
                </a:solidFill>
              </a:defRPr>
            </a:pPr>
            <a:r>
              <a:t>✔  提供机构级合规审计与现场运维保障</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326"/>
        </a:solidFill>
        <a:effectLst/>
      </p:bgPr>
    </p:bg>
    <p:spTree>
      <p:nvGrpSpPr>
        <p:cNvPr id="1" name=""/>
        <p:cNvGrpSpPr/>
        <p:nvPr/>
      </p:nvGrpSpPr>
      <p:grpSpPr/>
      <p:sp>
        <p:nvSpPr>
          <p:cNvPr id="2" name="TextBox 1"/>
          <p:cNvSpPr txBox="1"/>
          <p:nvPr/>
        </p:nvSpPr>
        <p:spPr>
          <a:xfrm>
            <a:off x="731520" y="457200"/>
            <a:ext cx="10698480" cy="365760"/>
          </a:xfrm>
          <a:prstGeom prst="rect">
            <a:avLst/>
          </a:prstGeom>
          <a:noFill/>
        </p:spPr>
        <p:txBody>
          <a:bodyPr wrap="square" lIns="0" tIns="0" rIns="0" bIns="0">
            <a:spAutoFit/>
          </a:bodyPr>
          <a:lstStyle/>
          <a:p>
            <a:pPr>
              <a:defRPr sz="1100" b="1">
                <a:solidFill>
                  <a:srgbClr val="34D399"/>
                </a:solidFill>
              </a:defRPr>
            </a:pPr>
            <a:r>
              <a:t>ROADMAP &amp; MILESTONES</a:t>
            </a:r>
          </a:p>
        </p:txBody>
      </p:sp>
      <p:sp>
        <p:nvSpPr>
          <p:cNvPr id="3" name="TextBox 2"/>
          <p:cNvSpPr txBox="1"/>
          <p:nvPr/>
        </p:nvSpPr>
        <p:spPr>
          <a:xfrm>
            <a:off x="731520" y="777240"/>
            <a:ext cx="10698480" cy="640080"/>
          </a:xfrm>
          <a:prstGeom prst="rect">
            <a:avLst/>
          </a:prstGeom>
          <a:noFill/>
        </p:spPr>
        <p:txBody>
          <a:bodyPr wrap="square" lIns="0" tIns="0" rIns="0" bIns="0">
            <a:spAutoFit/>
          </a:bodyPr>
          <a:lstStyle/>
          <a:p>
            <a:pPr>
              <a:defRPr sz="2200" b="1">
                <a:solidFill>
                  <a:srgbClr val="F8FAFC"/>
                </a:solidFill>
              </a:defRPr>
            </a:pPr>
            <a:r>
              <a:t>落地规划：与长江3D科算中心及孝感基地共筑产业标杆</a:t>
            </a:r>
          </a:p>
        </p:txBody>
      </p:sp>
      <p:sp>
        <p:nvSpPr>
          <p:cNvPr id="4" name="TextBox 3"/>
          <p:cNvSpPr txBox="1"/>
          <p:nvPr/>
        </p:nvSpPr>
        <p:spPr>
          <a:xfrm>
            <a:off x="731520" y="6309360"/>
            <a:ext cx="10698480" cy="365760"/>
          </a:xfrm>
          <a:prstGeom prst="rect">
            <a:avLst/>
          </a:prstGeom>
          <a:noFill/>
        </p:spPr>
        <p:txBody>
          <a:bodyPr wrap="none" lIns="0" tIns="0" rIns="0" bIns="0">
            <a:spAutoFit/>
          </a:bodyPr>
          <a:lstStyle/>
          <a:p>
            <a:pPr>
              <a:defRPr sz="1000">
                <a:solidFill>
                  <a:srgbClr val="94A3B8"/>
                </a:solidFill>
              </a:defRPr>
            </a:pPr>
            <a:r>
              <a:t>BioHelix · 依托长江3D科学计算中心生命科技专项路演  |  Confidential  |  8 / 11</a:t>
            </a:r>
          </a:p>
        </p:txBody>
      </p:sp>
      <p:sp>
        <p:nvSpPr>
          <p:cNvPr id="5" name="Rounded Rectangle 4"/>
          <p:cNvSpPr/>
          <p:nvPr/>
        </p:nvSpPr>
        <p:spPr>
          <a:xfrm>
            <a:off x="731520" y="1508760"/>
            <a:ext cx="2542032" cy="4480560"/>
          </a:xfrm>
          <a:prstGeom prst="roundRect">
            <a:avLst/>
          </a:prstGeom>
          <a:solidFill>
            <a:srgbClr val="131F3A"/>
          </a:solidFill>
          <a:ln w="12700">
            <a:solidFill>
              <a:srgbClr val="26385E"/>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274320"/>
          <a:lstStyle/>
          <a:p>
            <a:pPr algn="ctr">
              <a:defRPr sz="1400" b="1">
                <a:solidFill>
                  <a:srgbClr val="34D399"/>
                </a:solidFill>
              </a:defRPr>
            </a:pPr>
            <a:r>
              <a:t>Phase 1: 端侧沙箱就绪</a:t>
            </a:r>
          </a:p>
          <a:p>
            <a:pPr>
              <a:spcBef>
                <a:spcPts val="400"/>
              </a:spcBef>
              <a:defRPr sz="1100">
                <a:solidFill>
                  <a:srgbClr val="FBBF24"/>
                </a:solidFill>
              </a:defRPr>
            </a:pPr>
            <a:r>
              <a:t>已就绪验证</a:t>
            </a:r>
          </a:p>
          <a:p>
            <a:pPr>
              <a:spcBef>
                <a:spcPts val="1400"/>
              </a:spcBef>
              <a:defRPr sz="1050">
                <a:solidFill>
                  <a:srgbClr val="CBD5E1"/>
                </a:solidFill>
              </a:defRPr>
            </a:pPr>
            <a:r>
              <a:t>● 完成 Android 多执行域与安全沙箱</a:t>
            </a:r>
            <a:br/>
            <a:r>
              <a:t>● 成功跑通移动端 Biopython/RDKit</a:t>
            </a:r>
            <a:br/>
            <a:r>
              <a:t>● 交付 SAF 生信文件读写与原子写入</a:t>
            </a:r>
            <a:br/>
            <a:r>
              <a:t>● 验证离线单机数据清洗闭环</a:t>
            </a:r>
          </a:p>
        </p:txBody>
      </p:sp>
      <p:sp>
        <p:nvSpPr>
          <p:cNvPr id="6" name="Rounded Rectangle 5"/>
          <p:cNvSpPr/>
          <p:nvPr/>
        </p:nvSpPr>
        <p:spPr>
          <a:xfrm>
            <a:off x="3456432" y="1508760"/>
            <a:ext cx="2542032" cy="4480560"/>
          </a:xfrm>
          <a:prstGeom prst="roundRect">
            <a:avLst/>
          </a:prstGeom>
          <a:solidFill>
            <a:srgbClr val="131F3A"/>
          </a:solidFill>
          <a:ln w="12700">
            <a:solidFill>
              <a:srgbClr val="26385E"/>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274320"/>
          <a:lstStyle/>
          <a:p>
            <a:pPr algn="ctr">
              <a:defRPr sz="1400" b="1">
                <a:solidFill>
                  <a:srgbClr val="34D399"/>
                </a:solidFill>
              </a:defRPr>
            </a:pPr>
            <a:r>
              <a:t>Phase 2: 3D科算深度对接</a:t>
            </a:r>
          </a:p>
          <a:p>
            <a:pPr>
              <a:spcBef>
                <a:spcPts val="400"/>
              </a:spcBef>
              <a:defRPr sz="1100">
                <a:solidFill>
                  <a:srgbClr val="FBBF24"/>
                </a:solidFill>
              </a:defRPr>
            </a:pPr>
            <a:r>
              <a:t>大赛签约期 (1-3月)</a:t>
            </a:r>
          </a:p>
          <a:p>
            <a:pPr>
              <a:spcBef>
                <a:spcPts val="1400"/>
              </a:spcBef>
              <a:defRPr sz="1050">
                <a:solidFill>
                  <a:srgbClr val="CBD5E1"/>
                </a:solidFill>
              </a:defRPr>
            </a:pPr>
            <a:r>
              <a:t>● 深度对接长江3D科学计算中心 API</a:t>
            </a:r>
            <a:br/>
            <a:r>
              <a:t>● 跑通移动端一键下发分子对接与仿真</a:t>
            </a:r>
            <a:br/>
            <a:r>
              <a:t>● 交付流式 PTY 终端与收敛日志推流</a:t>
            </a:r>
            <a:br/>
            <a:r>
              <a:t>● 联合举办生信移动工作台内测</a:t>
            </a:r>
          </a:p>
        </p:txBody>
      </p:sp>
      <p:sp>
        <p:nvSpPr>
          <p:cNvPr id="7" name="Rounded Rectangle 6"/>
          <p:cNvSpPr/>
          <p:nvPr/>
        </p:nvSpPr>
        <p:spPr>
          <a:xfrm>
            <a:off x="6181344" y="1508760"/>
            <a:ext cx="2542032" cy="4480560"/>
          </a:xfrm>
          <a:prstGeom prst="roundRect">
            <a:avLst/>
          </a:prstGeom>
          <a:solidFill>
            <a:srgbClr val="131F3A"/>
          </a:solidFill>
          <a:ln w="12700">
            <a:solidFill>
              <a:srgbClr val="26385E"/>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274320"/>
          <a:lstStyle/>
          <a:p>
            <a:pPr algn="ctr">
              <a:defRPr sz="1400" b="1">
                <a:solidFill>
                  <a:srgbClr val="38BDF8"/>
                </a:solidFill>
              </a:defRPr>
            </a:pPr>
            <a:r>
              <a:t>Phase 3: 孝感基地中试试点</a:t>
            </a:r>
          </a:p>
          <a:p>
            <a:pPr>
              <a:spcBef>
                <a:spcPts val="400"/>
              </a:spcBef>
              <a:defRPr sz="1100">
                <a:solidFill>
                  <a:srgbClr val="FBBF24"/>
                </a:solidFill>
              </a:defRPr>
            </a:pPr>
            <a:r>
              <a:t>产业试点期 (4-8月)</a:t>
            </a:r>
          </a:p>
          <a:p>
            <a:pPr>
              <a:spcBef>
                <a:spcPts val="1400"/>
              </a:spcBef>
              <a:defRPr sz="1050">
                <a:solidFill>
                  <a:srgbClr val="CBD5E1"/>
                </a:solidFill>
              </a:defRPr>
            </a:pPr>
            <a:r>
              <a:t>● 进驻孝感合成生物制造基地开展试点</a:t>
            </a:r>
            <a:br/>
            <a:r>
              <a:t>● 部署生物反应器中试掌上巡检方案</a:t>
            </a:r>
            <a:br/>
            <a:r>
              <a:t>● 联合中医药机构实测野外离线采样</a:t>
            </a:r>
            <a:br/>
            <a:r>
              <a:t>● 推出首个生命科技商业化订阅包</a:t>
            </a:r>
          </a:p>
        </p:txBody>
      </p:sp>
      <p:sp>
        <p:nvSpPr>
          <p:cNvPr id="8" name="Rounded Rectangle 7"/>
          <p:cNvSpPr/>
          <p:nvPr/>
        </p:nvSpPr>
        <p:spPr>
          <a:xfrm>
            <a:off x="8906256" y="1508760"/>
            <a:ext cx="2542032" cy="4480560"/>
          </a:xfrm>
          <a:prstGeom prst="roundRect">
            <a:avLst/>
          </a:prstGeom>
          <a:solidFill>
            <a:srgbClr val="131F3A"/>
          </a:solidFill>
          <a:ln w="12700">
            <a:solidFill>
              <a:srgbClr val="26385E"/>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274320"/>
          <a:lstStyle/>
          <a:p>
            <a:pPr algn="ctr">
              <a:defRPr sz="1400" b="1">
                <a:solidFill>
                  <a:srgbClr val="38BDF8"/>
                </a:solidFill>
              </a:defRPr>
            </a:pPr>
            <a:r>
              <a:t>Phase 4: 全行业规模化繁荣</a:t>
            </a:r>
          </a:p>
          <a:p>
            <a:pPr>
              <a:spcBef>
                <a:spcPts val="400"/>
              </a:spcBef>
              <a:defRPr sz="1100">
                <a:solidFill>
                  <a:srgbClr val="FBBF24"/>
                </a:solidFill>
              </a:defRPr>
            </a:pPr>
            <a:r>
              <a:t>规模推广期 (9-18月)</a:t>
            </a:r>
          </a:p>
          <a:p>
            <a:pPr>
              <a:spcBef>
                <a:spcPts val="1400"/>
              </a:spcBef>
              <a:defRPr sz="1050">
                <a:solidFill>
                  <a:srgbClr val="CBD5E1"/>
                </a:solidFill>
              </a:defRPr>
            </a:pPr>
            <a:r>
              <a:t>● 接入 100+ 款主流生信/制药工具链</a:t>
            </a:r>
            <a:br/>
            <a:r>
              <a:t>● 打造生命科学移动算力调度事实标准</a:t>
            </a:r>
            <a:br/>
            <a:r>
              <a:t>● 覆盖全国 100+ 重点医药高校与药企</a:t>
            </a:r>
            <a:br/>
            <a:r>
              <a:t>● 实现端-超协同生态规模化盈利</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326"/>
        </a:solidFill>
        <a:effectLst/>
      </p:bgPr>
    </p:bg>
    <p:spTree>
      <p:nvGrpSpPr>
        <p:cNvPr id="1" name=""/>
        <p:cNvGrpSpPr/>
        <p:nvPr/>
      </p:nvGrpSpPr>
      <p:grpSpPr/>
      <p:sp>
        <p:nvSpPr>
          <p:cNvPr id="2" name="TextBox 1"/>
          <p:cNvSpPr txBox="1"/>
          <p:nvPr/>
        </p:nvSpPr>
        <p:spPr>
          <a:xfrm>
            <a:off x="731520" y="457200"/>
            <a:ext cx="10698480" cy="365760"/>
          </a:xfrm>
          <a:prstGeom prst="rect">
            <a:avLst/>
          </a:prstGeom>
          <a:noFill/>
        </p:spPr>
        <p:txBody>
          <a:bodyPr wrap="square" lIns="0" tIns="0" rIns="0" bIns="0">
            <a:spAutoFit/>
          </a:bodyPr>
          <a:lstStyle/>
          <a:p>
            <a:pPr>
              <a:defRPr sz="1100" b="1">
                <a:solidFill>
                  <a:srgbClr val="34D399"/>
                </a:solidFill>
              </a:defRPr>
            </a:pPr>
            <a:r>
              <a:t>TEAM &amp; COMPETENCY</a:t>
            </a:r>
          </a:p>
        </p:txBody>
      </p:sp>
      <p:sp>
        <p:nvSpPr>
          <p:cNvPr id="3" name="TextBox 2"/>
          <p:cNvSpPr txBox="1"/>
          <p:nvPr/>
        </p:nvSpPr>
        <p:spPr>
          <a:xfrm>
            <a:off x="731520" y="777240"/>
            <a:ext cx="10698480" cy="640080"/>
          </a:xfrm>
          <a:prstGeom prst="rect">
            <a:avLst/>
          </a:prstGeom>
          <a:noFill/>
        </p:spPr>
        <p:txBody>
          <a:bodyPr wrap="square" lIns="0" tIns="0" rIns="0" bIns="0">
            <a:spAutoFit/>
          </a:bodyPr>
          <a:lstStyle/>
          <a:p>
            <a:pPr>
              <a:defRPr sz="2200" b="1">
                <a:solidFill>
                  <a:srgbClr val="F8FAFC"/>
                </a:solidFill>
              </a:defRPr>
            </a:pPr>
            <a:r>
              <a:t>核心团队与竞争优势：跨界融合的底层工程与计算生物基因</a:t>
            </a:r>
          </a:p>
        </p:txBody>
      </p:sp>
      <p:sp>
        <p:nvSpPr>
          <p:cNvPr id="4" name="TextBox 3"/>
          <p:cNvSpPr txBox="1"/>
          <p:nvPr/>
        </p:nvSpPr>
        <p:spPr>
          <a:xfrm>
            <a:off x="731520" y="6309360"/>
            <a:ext cx="10698480" cy="365760"/>
          </a:xfrm>
          <a:prstGeom prst="rect">
            <a:avLst/>
          </a:prstGeom>
          <a:noFill/>
        </p:spPr>
        <p:txBody>
          <a:bodyPr wrap="none" lIns="0" tIns="0" rIns="0" bIns="0">
            <a:spAutoFit/>
          </a:bodyPr>
          <a:lstStyle/>
          <a:p>
            <a:pPr>
              <a:defRPr sz="1000">
                <a:solidFill>
                  <a:srgbClr val="94A3B8"/>
                </a:solidFill>
              </a:defRPr>
            </a:pPr>
            <a:r>
              <a:t>BioHelix · 依托长江3D科学计算中心生命科技专项路演  |  Confidential  |  9 / 11</a:t>
            </a:r>
          </a:p>
        </p:txBody>
      </p:sp>
      <p:sp>
        <p:nvSpPr>
          <p:cNvPr id="5" name="Rounded Rectangle 4"/>
          <p:cNvSpPr/>
          <p:nvPr/>
        </p:nvSpPr>
        <p:spPr>
          <a:xfrm>
            <a:off x="731520" y="1508760"/>
            <a:ext cx="3429000" cy="2468880"/>
          </a:xfrm>
          <a:prstGeom prst="roundRect">
            <a:avLst/>
          </a:prstGeom>
          <a:solidFill>
            <a:srgbClr val="131F3A"/>
          </a:solidFill>
          <a:ln w="12700">
            <a:solidFill>
              <a:srgbClr val="26385E"/>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500" b="1">
                <a:solidFill>
                  <a:srgbClr val="F8FAFC"/>
                </a:solidFill>
              </a:defRPr>
            </a:pPr>
            <a:r>
              <a:t>移动系统与容器底层专家</a:t>
            </a:r>
          </a:p>
          <a:p>
            <a:pPr>
              <a:spcBef>
                <a:spcPts val="400"/>
              </a:spcBef>
              <a:defRPr sz="1100">
                <a:solidFill>
                  <a:srgbClr val="34D399"/>
                </a:solidFill>
              </a:defRPr>
            </a:pPr>
            <a:r>
              <a:t>联合创始人 / 系统架构师</a:t>
            </a:r>
          </a:p>
          <a:p>
            <a:pPr>
              <a:spcBef>
                <a:spcPts val="800"/>
              </a:spcBef>
              <a:defRPr sz="1100">
                <a:solidFill>
                  <a:srgbClr val="CBD5E1"/>
                </a:solidFill>
              </a:defRPr>
            </a:pPr>
            <a:r>
              <a:t>前头部科技企业系统架构专家，深耕 Linux 容器化、Android 内核及多进程 IPC 通信，主导过大规模移动沙箱与底层虚拟化工程项目。</a:t>
            </a:r>
          </a:p>
        </p:txBody>
      </p:sp>
      <p:sp>
        <p:nvSpPr>
          <p:cNvPr id="6" name="Rounded Rectangle 5"/>
          <p:cNvSpPr/>
          <p:nvPr/>
        </p:nvSpPr>
        <p:spPr>
          <a:xfrm>
            <a:off x="4379976" y="1508760"/>
            <a:ext cx="3429000" cy="2468880"/>
          </a:xfrm>
          <a:prstGeom prst="roundRect">
            <a:avLst/>
          </a:prstGeom>
          <a:solidFill>
            <a:srgbClr val="131F3A"/>
          </a:solidFill>
          <a:ln w="12700">
            <a:solidFill>
              <a:srgbClr val="26385E"/>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500" b="1">
                <a:solidFill>
                  <a:srgbClr val="F8FAFC"/>
                </a:solidFill>
              </a:defRPr>
            </a:pPr>
            <a:r>
              <a:t>计算生物学与 AI 制药专家</a:t>
            </a:r>
          </a:p>
          <a:p>
            <a:pPr>
              <a:spcBef>
                <a:spcPts val="400"/>
              </a:spcBef>
              <a:defRPr sz="1100">
                <a:solidFill>
                  <a:srgbClr val="34D399"/>
                </a:solidFill>
              </a:defRPr>
            </a:pPr>
            <a:r>
              <a:t>联合创始人 / AI 科学家</a:t>
            </a:r>
          </a:p>
          <a:p>
            <a:pPr>
              <a:spcBef>
                <a:spcPts val="800"/>
              </a:spcBef>
              <a:defRPr sz="1100">
                <a:solidFill>
                  <a:srgbClr val="CBD5E1"/>
                </a:solidFill>
              </a:defRPr>
            </a:pPr>
            <a:r>
              <a:t>知名药企与生物计算实验室背景，精通分子对接、高通量分子动力学模拟算法与超算集群调度，发表多篇生信高水平论文。</a:t>
            </a:r>
          </a:p>
        </p:txBody>
      </p:sp>
      <p:sp>
        <p:nvSpPr>
          <p:cNvPr id="7" name="Rounded Rectangle 6"/>
          <p:cNvSpPr/>
          <p:nvPr/>
        </p:nvSpPr>
        <p:spPr>
          <a:xfrm>
            <a:off x="8028432" y="1508760"/>
            <a:ext cx="3429000" cy="2468880"/>
          </a:xfrm>
          <a:prstGeom prst="roundRect">
            <a:avLst/>
          </a:prstGeom>
          <a:solidFill>
            <a:srgbClr val="131F3A"/>
          </a:solidFill>
          <a:ln w="12700">
            <a:solidFill>
              <a:srgbClr val="26385E"/>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500" b="1">
                <a:solidFill>
                  <a:srgbClr val="F8FAFC"/>
                </a:solidFill>
              </a:defRPr>
            </a:pPr>
            <a:r>
              <a:t>生物制造与外业场景专家</a:t>
            </a:r>
          </a:p>
          <a:p>
            <a:pPr>
              <a:spcBef>
                <a:spcPts val="400"/>
              </a:spcBef>
              <a:defRPr sz="1100">
                <a:solidFill>
                  <a:srgbClr val="34D399"/>
                </a:solidFill>
              </a:defRPr>
            </a:pPr>
            <a:r>
              <a:t>产品与产业化负责人</a:t>
            </a:r>
          </a:p>
          <a:p>
            <a:pPr>
              <a:spcBef>
                <a:spcPts val="800"/>
              </a:spcBef>
              <a:defRPr sz="1100">
                <a:solidFill>
                  <a:srgbClr val="CBD5E1"/>
                </a:solidFill>
              </a:defRPr>
            </a:pPr>
            <a:r>
              <a:t>具备大型生物化工中试发酵车间实战管理与重大科研外业科考实施经验，深刻理解实验现场与工业车间的严苛需求。</a:t>
            </a:r>
          </a:p>
        </p:txBody>
      </p:sp>
      <p:sp>
        <p:nvSpPr>
          <p:cNvPr id="8" name="Rounded Rectangle 7"/>
          <p:cNvSpPr/>
          <p:nvPr/>
        </p:nvSpPr>
        <p:spPr>
          <a:xfrm>
            <a:off x="731520" y="4206240"/>
            <a:ext cx="10728655" cy="1828800"/>
          </a:xfrm>
          <a:prstGeom prst="roundRect">
            <a:avLst/>
          </a:prstGeom>
          <a:solidFill>
            <a:srgbClr val="10242E"/>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274320" tIns="182880"/>
          <a:lstStyle/>
          <a:p>
            <a:pPr algn="ctr">
              <a:defRPr sz="1500" b="1">
                <a:solidFill>
                  <a:srgbClr val="34D399"/>
                </a:solidFill>
              </a:defRPr>
            </a:pPr>
            <a:r>
              <a:t>差异化竞争壁垒：端-超协同稀缺性 + 在地化产业强绑定</a:t>
            </a:r>
          </a:p>
          <a:p>
            <a:pPr>
              <a:spcBef>
                <a:spcPts val="600"/>
              </a:spcBef>
              <a:defRPr sz="1150">
                <a:solidFill>
                  <a:srgbClr val="CBD5E1"/>
                </a:solidFill>
              </a:defRPr>
            </a:pPr>
            <a:r>
              <a:t>1. 全球稀缺的端-超协同移动基座：打破传统超算必须绑死电脑桌面的宿命，让超级算力真正渗透进湿实验台与发酵车间；</a:t>
            </a:r>
            <a:br/>
            <a:r>
              <a:t>2. 极高工程门槛的免 Root 生信沙箱：在 Android 体系下安全调谐容器化生信环境，兼具高安全合规与专业生信计算能力；</a:t>
            </a:r>
            <a:br/>
            <a:r>
              <a:t>3. 长江3D科算中心与孝感基地的深度赋能：依托区域顶尖算力与产业化基地，构建不可复制的产学研用落地闭环。</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326"/>
        </a:solidFill>
        <a:effectLst/>
      </p:bgPr>
    </p:bg>
    <p:spTree>
      <p:nvGrpSpPr>
        <p:cNvPr id="1" name=""/>
        <p:cNvGrpSpPr/>
        <p:nvPr/>
      </p:nvGrpSpPr>
      <p:grpSpPr/>
      <p:sp>
        <p:nvSpPr>
          <p:cNvPr id="2" name="TextBox 1"/>
          <p:cNvSpPr txBox="1"/>
          <p:nvPr/>
        </p:nvSpPr>
        <p:spPr>
          <a:xfrm>
            <a:off x="731520" y="457200"/>
            <a:ext cx="10698480" cy="365760"/>
          </a:xfrm>
          <a:prstGeom prst="rect">
            <a:avLst/>
          </a:prstGeom>
          <a:noFill/>
        </p:spPr>
        <p:txBody>
          <a:bodyPr wrap="square" lIns="0" tIns="0" rIns="0" bIns="0">
            <a:spAutoFit/>
          </a:bodyPr>
          <a:lstStyle/>
          <a:p>
            <a:pPr>
              <a:defRPr sz="1100" b="1">
                <a:solidFill>
                  <a:srgbClr val="34D399"/>
                </a:solidFill>
              </a:defRPr>
            </a:pPr>
            <a:r>
              <a:t>FINANCING &amp; COLLABORATION</a:t>
            </a:r>
          </a:p>
        </p:txBody>
      </p:sp>
      <p:sp>
        <p:nvSpPr>
          <p:cNvPr id="3" name="TextBox 2"/>
          <p:cNvSpPr txBox="1"/>
          <p:nvPr/>
        </p:nvSpPr>
        <p:spPr>
          <a:xfrm>
            <a:off x="731520" y="777240"/>
            <a:ext cx="10698480" cy="640080"/>
          </a:xfrm>
          <a:prstGeom prst="rect">
            <a:avLst/>
          </a:prstGeom>
          <a:noFill/>
        </p:spPr>
        <p:txBody>
          <a:bodyPr wrap="square" lIns="0" tIns="0" rIns="0" bIns="0">
            <a:spAutoFit/>
          </a:bodyPr>
          <a:lstStyle/>
          <a:p>
            <a:pPr>
              <a:defRPr sz="2200" b="1">
                <a:solidFill>
                  <a:srgbClr val="F8FAFC"/>
                </a:solidFill>
              </a:defRPr>
            </a:pPr>
            <a:r>
              <a:t>融资需求与大赛协同：借力科算中心算力，加速孝感中试落地</a:t>
            </a:r>
          </a:p>
        </p:txBody>
      </p:sp>
      <p:sp>
        <p:nvSpPr>
          <p:cNvPr id="4" name="TextBox 3"/>
          <p:cNvSpPr txBox="1"/>
          <p:nvPr/>
        </p:nvSpPr>
        <p:spPr>
          <a:xfrm>
            <a:off x="731520" y="6309360"/>
            <a:ext cx="10698480" cy="365760"/>
          </a:xfrm>
          <a:prstGeom prst="rect">
            <a:avLst/>
          </a:prstGeom>
          <a:noFill/>
        </p:spPr>
        <p:txBody>
          <a:bodyPr wrap="none" lIns="0" tIns="0" rIns="0" bIns="0">
            <a:spAutoFit/>
          </a:bodyPr>
          <a:lstStyle/>
          <a:p>
            <a:pPr>
              <a:defRPr sz="1000">
                <a:solidFill>
                  <a:srgbClr val="94A3B8"/>
                </a:solidFill>
              </a:defRPr>
            </a:pPr>
            <a:r>
              <a:t>BioHelix · 依托长江3D科学计算中心生命科技专项路演  |  Confidential  |  10 / 11</a:t>
            </a:r>
          </a:p>
        </p:txBody>
      </p:sp>
      <p:sp>
        <p:nvSpPr>
          <p:cNvPr id="5" name="Rounded Rectangle 4"/>
          <p:cNvSpPr/>
          <p:nvPr/>
        </p:nvSpPr>
        <p:spPr>
          <a:xfrm>
            <a:off x="731520" y="1508760"/>
            <a:ext cx="5257800" cy="4480560"/>
          </a:xfrm>
          <a:prstGeom prst="roundRect">
            <a:avLst/>
          </a:prstGeom>
          <a:solidFill>
            <a:srgbClr val="131F3A"/>
          </a:solidFill>
          <a:ln w="12700">
            <a:solidFill>
              <a:srgbClr val="26385E"/>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sz="1600" b="1">
                <a:solidFill>
                  <a:srgbClr val="34D399"/>
                </a:solidFill>
              </a:defRPr>
            </a:pPr>
            <a:r>
              <a:t>融资诉求与大赛支持</a:t>
            </a:r>
          </a:p>
          <a:p>
            <a:pPr>
              <a:spcBef>
                <a:spcPts val="1000"/>
              </a:spcBef>
              <a:defRPr sz="1250" b="1">
                <a:solidFill>
                  <a:srgbClr val="F8FAFC"/>
                </a:solidFill>
              </a:defRPr>
            </a:pPr>
            <a:r>
              <a:t>◆  融资轮次与诉求</a:t>
            </a:r>
          </a:p>
          <a:p>
            <a:pPr>
              <a:defRPr sz="1100">
                <a:solidFill>
                  <a:srgbClr val="CBD5E1"/>
                </a:solidFill>
              </a:defRPr>
            </a:pPr>
            <a:r>
              <a:t>    寻求天使轮 / 种子轮股权融资，出让 10% - 15% 股权</a:t>
            </a:r>
          </a:p>
          <a:p>
            <a:pPr>
              <a:spcBef>
                <a:spcPts val="1000"/>
              </a:spcBef>
              <a:defRPr sz="1250" b="1">
                <a:solidFill>
                  <a:srgbClr val="F8FAFC"/>
                </a:solidFill>
              </a:defRPr>
            </a:pPr>
            <a:r>
              <a:t>◆  长江3D科算中心算力支持</a:t>
            </a:r>
          </a:p>
          <a:p>
            <a:pPr>
              <a:defRPr sz="1100">
                <a:solidFill>
                  <a:srgbClr val="CBD5E1"/>
                </a:solidFill>
              </a:defRPr>
            </a:pPr>
            <a:r>
              <a:t>    申请接入 3D 科算中心开放节点，联合开发分子动力学与生信流式调度专属通道</a:t>
            </a:r>
          </a:p>
          <a:p>
            <a:pPr>
              <a:spcBef>
                <a:spcPts val="1000"/>
              </a:spcBef>
              <a:defRPr sz="1250" b="1">
                <a:solidFill>
                  <a:srgbClr val="F8FAFC"/>
                </a:solidFill>
              </a:defRPr>
            </a:pPr>
            <a:r>
              <a:t>◆  孝感生物制造场景入驻</a:t>
            </a:r>
          </a:p>
          <a:p>
            <a:pPr>
              <a:defRPr sz="1100">
                <a:solidFill>
                  <a:srgbClr val="CBD5E1"/>
                </a:solidFill>
              </a:defRPr>
            </a:pPr>
            <a:r>
              <a:t>    申请进驻孝感合成生物制造基地，实地部署发酵罐智能巡检试点</a:t>
            </a:r>
          </a:p>
          <a:p>
            <a:pPr>
              <a:spcBef>
                <a:spcPts val="1000"/>
              </a:spcBef>
              <a:defRPr sz="1250" b="1">
                <a:solidFill>
                  <a:srgbClr val="F8FAFC"/>
                </a:solidFill>
              </a:defRPr>
            </a:pPr>
            <a:r>
              <a:t>◆  55% 资金投向技术研发</a:t>
            </a:r>
          </a:p>
          <a:p>
            <a:pPr>
              <a:defRPr sz="1100">
                <a:solidFill>
                  <a:srgbClr val="CBD5E1"/>
                </a:solidFill>
              </a:defRPr>
            </a:pPr>
            <a:r>
              <a:t>    端-超协同调度优化、移动端 3D 分子低功耗流式渲染与轻量量化模型</a:t>
            </a:r>
          </a:p>
        </p:txBody>
      </p:sp>
      <p:sp>
        <p:nvSpPr>
          <p:cNvPr id="6" name="Rounded Rectangle 5"/>
          <p:cNvSpPr/>
          <p:nvPr/>
        </p:nvSpPr>
        <p:spPr>
          <a:xfrm>
            <a:off x="6217920" y="1508760"/>
            <a:ext cx="5242255" cy="4480560"/>
          </a:xfrm>
          <a:prstGeom prst="roundRect">
            <a:avLst/>
          </a:prstGeom>
          <a:solidFill>
            <a:srgbClr val="131F3A"/>
          </a:solidFill>
          <a:ln w="12700">
            <a:solidFill>
              <a:srgbClr val="26385E"/>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sz="1600" b="1">
                <a:solidFill>
                  <a:srgbClr val="38BDF8"/>
                </a:solidFill>
              </a:defRPr>
            </a:pPr>
            <a:r>
              <a:t>未来 12 个月产业落地目标</a:t>
            </a:r>
          </a:p>
          <a:p>
            <a:pPr>
              <a:spcBef>
                <a:spcPts val="1200"/>
              </a:spcBef>
              <a:defRPr sz="1300" b="1">
                <a:solidFill>
                  <a:srgbClr val="38BDF8"/>
                </a:solidFill>
              </a:defRPr>
            </a:pPr>
            <a:r>
              <a:t>🎯  长江3D算力消耗</a:t>
            </a:r>
          </a:p>
          <a:p>
            <a:pPr>
              <a:spcBef>
                <a:spcPts val="300"/>
              </a:spcBef>
              <a:defRPr sz="1100">
                <a:solidFill>
                  <a:srgbClr val="CBD5E1"/>
                </a:solidFill>
              </a:defRPr>
            </a:pPr>
            <a:r>
              <a:t>实现年度调度长江3D科算中心 500,000+ 核时，成为科算中心标杆应用案例</a:t>
            </a:r>
          </a:p>
          <a:p>
            <a:pPr>
              <a:spcBef>
                <a:spcPts val="1200"/>
              </a:spcBef>
              <a:defRPr sz="1300" b="1">
                <a:solidFill>
                  <a:srgbClr val="38BDF8"/>
                </a:solidFill>
              </a:defRPr>
            </a:pPr>
            <a:r>
              <a:t>🎯  孝感中试示范</a:t>
            </a:r>
          </a:p>
          <a:p>
            <a:pPr>
              <a:spcBef>
                <a:spcPts val="300"/>
              </a:spcBef>
              <a:defRPr sz="1100">
                <a:solidFill>
                  <a:srgbClr val="CBD5E1"/>
                </a:solidFill>
              </a:defRPr>
            </a:pPr>
            <a:r>
              <a:t>在孝感合成生物基地落地 2 家以上示范车间，助力中试周期缩短 30% 以上</a:t>
            </a:r>
          </a:p>
          <a:p>
            <a:pPr>
              <a:spcBef>
                <a:spcPts val="1200"/>
              </a:spcBef>
              <a:defRPr sz="1300" b="1">
                <a:solidFill>
                  <a:srgbClr val="38BDF8"/>
                </a:solidFill>
              </a:defRPr>
            </a:pPr>
            <a:r>
              <a:t>🎯  用户与科研合作</a:t>
            </a:r>
          </a:p>
          <a:p>
            <a:pPr>
              <a:spcBef>
                <a:spcPts val="300"/>
              </a:spcBef>
              <a:defRPr sz="1100">
                <a:solidFill>
                  <a:srgbClr val="CBD5E1"/>
                </a:solidFill>
              </a:defRPr>
            </a:pPr>
            <a:r>
              <a:t>覆盖 30+ 所高校生物医药国家重点实验室，激活 10,000+ 名生信科研人员</a:t>
            </a:r>
          </a:p>
          <a:p>
            <a:pPr>
              <a:spcBef>
                <a:spcPts val="1200"/>
              </a:spcBef>
              <a:defRPr sz="1300" b="1">
                <a:solidFill>
                  <a:srgbClr val="38BDF8"/>
                </a:solidFill>
              </a:defRPr>
            </a:pPr>
            <a:r>
              <a:t>🎯  商业订阅验证</a:t>
            </a:r>
          </a:p>
          <a:p>
            <a:pPr>
              <a:spcBef>
                <a:spcPts val="300"/>
              </a:spcBef>
              <a:defRPr sz="1100">
                <a:solidFill>
                  <a:srgbClr val="CBD5E1"/>
                </a:solidFill>
              </a:defRPr>
            </a:pPr>
            <a:r>
              <a:t>实现月度经常性收入 (MRR) 突破 50 万元人民币，构建正向商业造血循环</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326"/>
        </a:solidFill>
        <a:effectLst/>
      </p:bgPr>
    </p:bg>
    <p:spTree>
      <p:nvGrpSpPr>
        <p:cNvPr id="1" name=""/>
        <p:cNvGrpSpPr/>
        <p:nvPr/>
      </p:nvGrpSpPr>
      <p:grpSpPr/>
      <p:sp>
        <p:nvSpPr>
          <p:cNvPr id="2" name="Rounded Rectangle 1"/>
          <p:cNvSpPr/>
          <p:nvPr/>
        </p:nvSpPr>
        <p:spPr>
          <a:xfrm>
            <a:off x="731520" y="1005840"/>
            <a:ext cx="10728655" cy="4846320"/>
          </a:xfrm>
          <a:prstGeom prst="roundRect">
            <a:avLst/>
          </a:prstGeom>
          <a:solidFill>
            <a:srgbClr val="101A32"/>
          </a:solidFill>
          <a:ln w="12700">
            <a:solidFill>
              <a:srgbClr val="2337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280160" y="2011680"/>
            <a:ext cx="9601200" cy="2743200"/>
          </a:xfrm>
          <a:prstGeom prst="rect">
            <a:avLst/>
          </a:prstGeom>
          <a:noFill/>
        </p:spPr>
        <p:txBody>
          <a:bodyPr wrap="square">
            <a:spAutoFit/>
          </a:bodyPr>
          <a:lstStyle/>
          <a:p>
            <a:pPr>
              <a:defRPr sz="3200" b="1">
                <a:solidFill>
                  <a:srgbClr val="F8FAFC"/>
                </a:solidFill>
              </a:defRPr>
            </a:pPr>
            <a:r>
              <a:t>让超级算力直达生命科学实验第一线</a:t>
            </a:r>
          </a:p>
          <a:p>
            <a:pPr>
              <a:spcBef>
                <a:spcPts val="1200"/>
              </a:spcBef>
              <a:defRPr sz="1800">
                <a:solidFill>
                  <a:srgbClr val="34D399"/>
                </a:solidFill>
              </a:defRPr>
            </a:pPr>
            <a:r>
              <a:t>BioHelix —— 赋能长江3D科学计算中心，助力孝感生物制造腾飞</a:t>
            </a:r>
          </a:p>
          <a:p>
            <a:pPr>
              <a:spcBef>
                <a:spcPts val="2000"/>
              </a:spcBef>
              <a:defRPr sz="1400">
                <a:solidFill>
                  <a:srgbClr val="CBD5E1"/>
                </a:solidFill>
              </a:defRPr>
            </a:pPr>
            <a:r>
              <a:t>欢迎各位领导、评委专家指导与交流！</a:t>
            </a:r>
            <a:br/>
            <a:br/>
            <a:r>
              <a:t>现场系统演示 Demo · 端-超调度实测 · 答辩问答</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